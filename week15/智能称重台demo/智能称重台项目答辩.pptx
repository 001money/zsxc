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81517200dd407b" /><Relationship Type="http://schemas.openxmlformats.org/officeDocument/2006/relationships/extended-properties" Target="/docProps/app.xml" Id="Rd0886a31bc0144e1" /><Relationship Type="http://schemas.openxmlformats.org/officeDocument/2006/relationships/officeDocument" Target="/ppt/presentation.xml" Id="Rc3acfb6191c643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aac846a3cf4517"/>
  </p:sldMasterIdLst>
  <p:notesMasterIdLst>
    <p:notesMasterId xmlns:r="http://schemas.openxmlformats.org/officeDocument/2006/relationships" r:id="R32f0b3f82e364f8f"/>
  </p:notesMasterIdLst>
  <p:sldIdLst>
    <p:sldId xmlns:r="http://schemas.openxmlformats.org/officeDocument/2006/relationships" id="256" r:id="R63c8f97313ee4a6f"/>
    <p:sldId xmlns:r="http://schemas.openxmlformats.org/officeDocument/2006/relationships" id="257" r:id="R61d41d06763e401e"/>
    <p:sldId xmlns:r="http://schemas.openxmlformats.org/officeDocument/2006/relationships" id="258" r:id="R4b6ed2ef959142a9"/>
    <p:sldId xmlns:r="http://schemas.openxmlformats.org/officeDocument/2006/relationships" id="259" r:id="Re22aca898eb64f42"/>
    <p:sldId xmlns:r="http://schemas.openxmlformats.org/officeDocument/2006/relationships" id="260" r:id="R521078ae38d84d47"/>
    <p:sldId xmlns:r="http://schemas.openxmlformats.org/officeDocument/2006/relationships" id="261" r:id="R676d6327b94a4b81"/>
    <p:sldId xmlns:r="http://schemas.openxmlformats.org/officeDocument/2006/relationships" id="262" r:id="R59fc2e93cf5e4087"/>
    <p:sldId xmlns:r="http://schemas.openxmlformats.org/officeDocument/2006/relationships" id="263" r:id="Rccd8fba156684035"/>
    <p:sldId xmlns:r="http://schemas.openxmlformats.org/officeDocument/2006/relationships" id="264" r:id="R87a086a4fd1e45d7"/>
    <p:sldId xmlns:r="http://schemas.openxmlformats.org/officeDocument/2006/relationships" id="265" r:id="R62f1f6958a084c51"/>
    <p:sldId xmlns:r="http://schemas.openxmlformats.org/officeDocument/2006/relationships" id="266" r:id="Rfc86f713348a4622"/>
    <p:sldId xmlns:r="http://schemas.openxmlformats.org/officeDocument/2006/relationships" id="267" r:id="R6b32528aba2548dd"/>
    <p:sldId xmlns:r="http://schemas.openxmlformats.org/officeDocument/2006/relationships" id="268" r:id="R95800c8011d24563"/>
    <p:sldId xmlns:r="http://schemas.openxmlformats.org/officeDocument/2006/relationships" id="269" r:id="Rf419ecad1e624473"/>
    <p:sldId xmlns:r="http://schemas.openxmlformats.org/officeDocument/2006/relationships" id="270" r:id="Rc4116ee745f24e62"/>
    <p:sldId xmlns:r="http://schemas.openxmlformats.org/officeDocument/2006/relationships" id="271" r:id="R5744e7e4cee54a25"/>
    <p:sldId xmlns:r="http://schemas.openxmlformats.org/officeDocument/2006/relationships" id="272" r:id="R9c7d6f9b847944d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49914eb9334d11" /><Relationship Type="http://schemas.openxmlformats.org/officeDocument/2006/relationships/slideMaster" Target="/ppt/slideMasters/slideMaster1.xml" Id="R6daac846a3cf4517" /><Relationship Type="http://schemas.openxmlformats.org/officeDocument/2006/relationships/notesMaster" Target="/ppt/notesMasters/notesMaster1.xml" Id="R32f0b3f82e364f8f" /><Relationship Type="http://schemas.openxmlformats.org/officeDocument/2006/relationships/presProps" Target="/ppt/presProps.xml" Id="R4f499c1daee14518" /><Relationship Type="http://schemas.openxmlformats.org/officeDocument/2006/relationships/viewProps" Target="/ppt/viewProps.xml" Id="R9b22ad9c214f451a" /><Relationship Type="http://schemas.openxmlformats.org/officeDocument/2006/relationships/tableStyles" Target="/ppt/tableStyles.xml" Id="R4ff006067a6d4c5b" /><Relationship Type="http://schemas.openxmlformats.org/officeDocument/2006/relationships/slide" Target="/ppt/slides/slide1.xml" Id="R63c8f97313ee4a6f" /><Relationship Type="http://schemas.openxmlformats.org/officeDocument/2006/relationships/slide" Target="/ppt/slides/slide2.xml" Id="R61d41d06763e401e" /><Relationship Type="http://schemas.openxmlformats.org/officeDocument/2006/relationships/slide" Target="/ppt/slides/slide3.xml" Id="R4b6ed2ef959142a9" /><Relationship Type="http://schemas.openxmlformats.org/officeDocument/2006/relationships/slide" Target="/ppt/slides/slide4.xml" Id="Re22aca898eb64f42" /><Relationship Type="http://schemas.openxmlformats.org/officeDocument/2006/relationships/slide" Target="/ppt/slides/slide5.xml" Id="R521078ae38d84d47" /><Relationship Type="http://schemas.openxmlformats.org/officeDocument/2006/relationships/slide" Target="/ppt/slides/slide6.xml" Id="R676d6327b94a4b81" /><Relationship Type="http://schemas.openxmlformats.org/officeDocument/2006/relationships/slide" Target="/ppt/slides/slide7.xml" Id="R59fc2e93cf5e4087" /><Relationship Type="http://schemas.openxmlformats.org/officeDocument/2006/relationships/slide" Target="/ppt/slides/slide8.xml" Id="Rccd8fba156684035" /><Relationship Type="http://schemas.openxmlformats.org/officeDocument/2006/relationships/slide" Target="/ppt/slides/slide9.xml" Id="R87a086a4fd1e45d7" /><Relationship Type="http://schemas.openxmlformats.org/officeDocument/2006/relationships/slide" Target="/ppt/slides/slide10.xml" Id="R62f1f6958a084c51" /><Relationship Type="http://schemas.openxmlformats.org/officeDocument/2006/relationships/slide" Target="/ppt/slides/slide11.xml" Id="Rfc86f713348a4622" /><Relationship Type="http://schemas.openxmlformats.org/officeDocument/2006/relationships/slide" Target="/ppt/slides/slide12.xml" Id="R6b32528aba2548dd" /><Relationship Type="http://schemas.openxmlformats.org/officeDocument/2006/relationships/slide" Target="/ppt/slides/slide13.xml" Id="R95800c8011d24563" /><Relationship Type="http://schemas.openxmlformats.org/officeDocument/2006/relationships/slide" Target="/ppt/slides/slide14.xml" Id="Rf419ecad1e624473" /><Relationship Type="http://schemas.openxmlformats.org/officeDocument/2006/relationships/slide" Target="/ppt/slides/slide15.xml" Id="Rc4116ee745f24e62" /><Relationship Type="http://schemas.openxmlformats.org/officeDocument/2006/relationships/slide" Target="/ppt/slides/slide16.xml" Id="R5744e7e4cee54a25" /><Relationship Type="http://schemas.openxmlformats.org/officeDocument/2006/relationships/slide" Target="/ppt/slides/slide17.xml" Id="R9c7d6f9b847944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b6b3b8e32a4f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2002e0af514f85" /><Relationship Type="http://schemas.openxmlformats.org/officeDocument/2006/relationships/notesMaster" Target="/ppt/notesMasters/notesMaster1.xml" Id="R0d2db3d6ff3440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1e8f4c91914e7c" /><Relationship Type="http://schemas.openxmlformats.org/officeDocument/2006/relationships/notesMaster" Target="/ppt/notesMasters/notesMaster1.xml" Id="R58abd3eb8b2f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7bfd4e316a4380" /><Relationship Type="http://schemas.openxmlformats.org/officeDocument/2006/relationships/notesMaster" Target="/ppt/notesMasters/notesMaster1.xml" Id="R63c60017816c40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03011420ef41c4" /><Relationship Type="http://schemas.openxmlformats.org/officeDocument/2006/relationships/notesMaster" Target="/ppt/notesMasters/notesMaster1.xml" Id="Rd2ae0a3ac60b4c3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420e2880f040aa" /><Relationship Type="http://schemas.openxmlformats.org/officeDocument/2006/relationships/notesMaster" Target="/ppt/notesMasters/notesMaster1.xml" Id="Raae27266c6bf4f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86d01983ff4ae3" /><Relationship Type="http://schemas.openxmlformats.org/officeDocument/2006/relationships/notesMaster" Target="/ppt/notesMasters/notesMaster1.xml" Id="R02f29dcafa234f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5b323b02b64c00" /><Relationship Type="http://schemas.openxmlformats.org/officeDocument/2006/relationships/notesMaster" Target="/ppt/notesMasters/notesMaster1.xml" Id="R98ba97a7fcaf40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971305d07f4521" /><Relationship Type="http://schemas.openxmlformats.org/officeDocument/2006/relationships/notesMaster" Target="/ppt/notesMasters/notesMaster1.xml" Id="Rd28e2eddda84477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b0fa7904674143" /><Relationship Type="http://schemas.openxmlformats.org/officeDocument/2006/relationships/notesMaster" Target="/ppt/notesMasters/notesMaster1.xml" Id="R9626bcb5efdf44a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65f1a7d9d445b4" /><Relationship Type="http://schemas.openxmlformats.org/officeDocument/2006/relationships/notesMaster" Target="/ppt/notesMasters/notesMaster1.xml" Id="Rb4baaedc602e46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eb7ef7865814332" /><Relationship Type="http://schemas.openxmlformats.org/officeDocument/2006/relationships/notesMaster" Target="/ppt/notesMasters/notesMaster1.xml" Id="Rfb23908fafb7452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5c8ac7cbf7488a" /><Relationship Type="http://schemas.openxmlformats.org/officeDocument/2006/relationships/notesMaster" Target="/ppt/notesMasters/notesMaster1.xml" Id="Ra5287f34a9bd4e7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16d9a22d7ab4f4f" /><Relationship Type="http://schemas.openxmlformats.org/officeDocument/2006/relationships/notesMaster" Target="/ppt/notesMasters/notesMaster1.xml" Id="R438b9b62a48843f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295fbe671624dca" /><Relationship Type="http://schemas.openxmlformats.org/officeDocument/2006/relationships/notesMaster" Target="/ppt/notesMasters/notesMaster1.xml" Id="Rb68669ae3da042e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e9368e44f984f38" /><Relationship Type="http://schemas.openxmlformats.org/officeDocument/2006/relationships/notesMaster" Target="/ppt/notesMasters/notesMaster1.xml" Id="R2dac505906354e7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34b452c7bd54b5c" /><Relationship Type="http://schemas.openxmlformats.org/officeDocument/2006/relationships/notesMaster" Target="/ppt/notesMasters/notesMaster1.xml" Id="Rfddd4a771d79402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990eac5b10641c7" /><Relationship Type="http://schemas.openxmlformats.org/officeDocument/2006/relationships/notesMaster" Target="/ppt/notesMasters/notesMaster1.xml" Id="R181bd42d572846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开场先说明项目边界：本项目完成的是包装商品视觉识别与结算交互原型，重点展示从数据、训练、部署到界面的完整工程闭环。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D:/project/step1/week15/智能称重台demo/README.md</a:t>
            </a:r>
          </a:p>
          <a:p xmlns:a="http://schemas.openxmlformats.org/drawingml/2006/main">
            <a:r>
              <a:t>- D:/project/step1/week15/智能称重台demo/runs/infer/video_infer/preview/frame_1246.jpg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这一页回答为什么要做。重点不是只训练一个模型，而是把视觉结果转成数据库可查询、购物车可展示、未知商品可拒绝的系统输出。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D:/project/step1/week15/智能称重台demo/智能称重台项目计划书.md</a:t>
            </a:r>
          </a:p>
          <a:p xmlns:a="http://schemas.openxmlformats.org/drawingml/2006/main">
            <a:r>
              <a:t>- D:/project/step1/week15/智能称重台demo/README.md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这里把答辩范围讲清楚，避免把课程原型描述成完整商用秤。四类包装是检测层，24个SKU是识别层，最终部署为5个ONNX模型。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D:/project/step1/week15/智能称重台demo/README.md</a:t>
            </a:r>
          </a:p>
          <a:p xmlns:a="http://schemas.openxmlformats.org/drawingml/2006/main">
            <a:r>
              <a:t>- D:/project/step1/week15/智能称重台demo/MODEL_FREEZE.md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按从左到右讲解。强调YOLO只负责四个包装类别，具体SKU由对应ResNet特征模型和特征库完成，最后才查商品数据库并形成稳定购物车。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D:/project/step1/week15/智能称重台demo/README.md</a:t>
            </a:r>
          </a:p>
          <a:p xmlns:a="http://schemas.openxmlformats.org/drawingml/2006/main">
            <a:r>
              <a:t>- D:/project/step1/week15/智能称重台demo/smart_checkout_qt/inference_controller.py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这页展示数据工程而不只是训练结果。指出验证集包含正放、横放、背面和手持等姿态；数据构建脚本保留逐帧清单，便于复核。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D:/project/step1/week15/智能称重台demo/build_classification_dataset_from_videos.py</a:t>
            </a:r>
          </a:p>
          <a:p xmlns:a="http://schemas.openxmlformats.org/drawingml/2006/main">
            <a:r>
              <a:t>- D:/project/step1/week15/智能称重台demo/work/classification_val_review/bottle_val_contact_sheet.jpg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展示训练曲线收敛与最终验证指标。提醒评委：这些指标证明当前项目数据上的检测能力，不等同于真实商超长期准确率。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D:/project/step1/week15/智能称重台demo/runs/detect/smart_checkout_yolov8n/results.png</a:t>
            </a:r>
          </a:p>
          <a:p xmlns:a="http://schemas.openxmlformats.org/drawingml/2006/main">
            <a:r>
              <a:t>- D:/project/step1/week15/智能称重台demo/runs/detect/smart_checkout_yolov8n/results.csv</a:t>
            </a:r>
          </a:p>
          <a:p xmlns:a="http://schemas.openxmlformats.org/drawingml/2006/main">
            <a:r>
              <a:t>- D:/project/step1/week15/智能称重台demo/MODEL_FREEZE.md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解释四模型设计：先用包装类型缩小候选空间，再在组内做细粒度识别。分类验证集来自同项目视频，Top-1指标主要用于内部检查。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D:/project/step1/week15/智能称重台demo/train_resnet_classifier.py</a:t>
            </a:r>
          </a:p>
          <a:p xmlns:a="http://schemas.openxmlformats.org/drawingml/2006/main">
            <a:r>
              <a:t>- D:/project/step1/week15/智能称重台demo/README.md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强调margin的重要性。未注册商品可能与某个已知类相似度很高，但Top1和Top2接近，此时不应计价。25帧窗口用于抑制单帧波动。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D:/project/step1/week15/智能称重台demo/onnx_engine.py</a:t>
            </a:r>
          </a:p>
          <a:p xmlns:a="http://schemas.openxmlformats.org/drawingml/2006/main">
            <a:r>
              <a:t>- D:/project/step1/week15/智能称重台demo/MODEL_FREEZE.md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说明部署时不再依赖Ultralytics运行时做日常推理。verify_onnx.py用于验证导出前后特征和检测结果一致，ONNX Runtime自动选择CUDA或CPU。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D:/project/step1/week15/智能称重台demo/export_onnx.py</a:t>
            </a:r>
          </a:p>
          <a:p xmlns:a="http://schemas.openxmlformats.org/drawingml/2006/main">
            <a:r>
              <a:t>- D:/project/step1/week15/智能称重台demo/verify_onnx.py</a:t>
            </a:r>
          </a:p>
          <a:p xmlns:a="http://schemas.openxmlformats.org/drawingml/2006/main">
            <a:r>
              <a:t>- D:/project/step1/week15/智能称重台demo/MODEL_FREEZE.md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从工程实现角度讲清UI不是模型主循环。推理放在QThread中，避免界面卡死；每帧返回标注图、检测结果、稳定购物车和FPS。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D:/project/step1/week15/智能称重台demo/smart_checkout_qt/widget.py</a:t>
            </a:r>
          </a:p>
          <a:p xmlns:a="http://schemas.openxmlformats.org/drawingml/2006/main">
            <a:r>
              <a:t>- D:/project/step1/week15/智能称重台demo/smart_checkout_qt/inference_controller.py</a:t>
            </a:r>
          </a:p>
          <a:p xmlns:a="http://schemas.openxmlformats.org/drawingml/2006/main">
            <a:r>
              <a:t>- D:/project/step1/week15/智能称重台demo/runs/pipeline/pipeline_demo_v2/preview/f1180.jpg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这是项目的主要加分点。新增商品不重训ResNet，而是用已有特征模型从视频提取多个姿态原型，再同步更新商品库和特征库。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D:/project/step1/week15/智能称重台demo/feature_library_updater.py</a:t>
            </a:r>
          </a:p>
          <a:p xmlns:a="http://schemas.openxmlformats.org/drawingml/2006/main">
            <a:r>
              <a:t>- D:/project/step1/week15/智能称重台demo/register_from_video.py</a:t>
            </a:r>
          </a:p>
          <a:p xmlns:a="http://schemas.openxmlformats.org/drawingml/2006/main">
            <a:r>
              <a:t>- D:/project/step1/week15/智能称重台demo/runs/registration/bottle07_20260828_final_verification.json</a:t>
            </a:r>
          </a:p>
          <a:p xmlns:a="http://schemas.openxmlformats.org/drawingml/2006/main">
            <a:r>
              <a:t>- D:/project/step1/week15/智能称重台demo/runs/pipeline/asm_new_video_verify_v2/result.mp4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这一页用同一验证视频做前后对照。注册前阿萨姆不计价，注册后新增1件3元，同时原7件商品保持不变，说明没有引入明显回归。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D:/project/step1/week15/智能称重台demo/runs/pipeline/demo_stage1_unregistered/result.json</a:t>
            </a:r>
          </a:p>
          <a:p xmlns:a="http://schemas.openxmlformats.org/drawingml/2006/main">
            <a:r>
              <a:t>- D:/project/step1/week15/智能称重台demo/runs/pipeline/demo_stage1_unregistered/result.mp4</a:t>
            </a:r>
          </a:p>
          <a:p xmlns:a="http://schemas.openxmlformats.org/drawingml/2006/main">
            <a:r>
              <a:t>- D:/project/step1/week15/智能称重台demo/runs/pipeline/asm_registered_verify_v2/result.json</a:t>
            </a:r>
          </a:p>
          <a:p xmlns:a="http://schemas.openxmlformats.org/drawingml/2006/main">
            <a:r>
              <a:t>- D:/project/step1/week15/智能称重台demo/runs/pipeline/asm_registered_verify_v2/result.mp4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展示两组独立验证：多商品视频用于检查整体回归，新拍阿萨姆视频用于检查注册商品跨姿态泛化。结果都来自落盘JSON，不依赖现场口头描述。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D:/project/step1/week15/智能称重台demo/runs/pipeline/asm_registered_verify_v2/result.json</a:t>
            </a:r>
          </a:p>
          <a:p xmlns:a="http://schemas.openxmlformats.org/drawingml/2006/main">
            <a:r>
              <a:t>- D:/project/step1/week15/智能称重台demo/runs/pipeline/asm_new_video_verify_v2/result.json</a:t>
            </a:r>
          </a:p>
          <a:p xmlns:a="http://schemas.openxmlformats.org/drawingml/2006/main">
            <a:r>
              <a:t>- D:/project/step1/week15/智能称重台demo/runs/registration/bottle07_20260828_final_verification.json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说明测试证据与边界。当前验证重点是防止演示前代码回归，不把这些测试夸大成商用可靠性认证。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D:/project/step1/week15/智能称重台demo/smart_checkout_qt/smoke_test.py</a:t>
            </a:r>
          </a:p>
          <a:p xmlns:a="http://schemas.openxmlformats.org/drawingml/2006/main">
            <a:r>
              <a:t>- D:/project/step1/week15/智能称重台demo/smart_checkout_qt/annotation_boundary_test.py</a:t>
            </a:r>
          </a:p>
          <a:p xmlns:a="http://schemas.openxmlformats.org/drawingml/2006/main">
            <a:r>
              <a:t>- D:/project/step1/week15/智能称重台demo/smart_checkout_qt/engine_smoke_test.py</a:t>
            </a:r>
          </a:p>
          <a:p xmlns:a="http://schemas.openxmlformats.org/drawingml/2006/main">
            <a:r>
              <a:t>- D:/project/step1/week15/智能称重台demo/smart_checkout_qt/registration_smoke_test.py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按问题—原因—解决方案讲。尤其突出从Softmax强制分类转向开放集检索，以及注册新商品时对旧类别的回归保护。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D:/project/step1/week15/智能称重台demo/项目总结.md</a:t>
            </a:r>
          </a:p>
          <a:p xmlns:a="http://schemas.openxmlformats.org/drawingml/2006/main">
            <a:r>
              <a:t>- D:/project/step1/week15/智能称重台demo/MODEL_FREEZE.md</a:t>
            </a:r>
          </a:p>
          <a:p xmlns:a="http://schemas.openxmlformats.org/drawingml/2006/main">
            <a:r>
              <a:t>- D:/project/step1/week15/智能称重台demo/runs/registration/bottle07_20260828_final_verification.json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主动讲清限制通常比回避更加分。当前名称是智能称重台，但实际实现是包装商品视觉结算原型；真正称重需要计量硬件、稳重触发、按重量计价和POS集成。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D:/project/step1/week15/智能称重台demo/智能称重台项目计划书.md</a:t>
            </a:r>
          </a:p>
          <a:p xmlns:a="http://schemas.openxmlformats.org/drawingml/2006/main">
            <a:r>
              <a:t>- D:/project/step1/week15/智能称重台demo/README.md</a:t>
            </a:r>
          </a:p>
          <a:p xmlns:a="http://schemas.openxmlformats.org/drawingml/2006/main">
            <a:r>
              <a:t>- D:/project/step1/week15/智能称重台demo/项目总结.md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结束时回扣三个贡献：工程闭环、开放集拒识、在线注册。随后进入演示或提问。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D:/project/step1/week15/智能称重台demo/README.md</a:t>
            </a:r>
          </a:p>
          <a:p xmlns:a="http://schemas.openxmlformats.org/drawingml/2006/main">
            <a:r>
              <a:t>- D:/project/step1/week15/智能称重台demo/MODEL_FREEZE.md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afb4e779e44c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9c658ccfb14511" /><Relationship Type="http://schemas.openxmlformats.org/officeDocument/2006/relationships/slideLayout" Target="/ppt/slideLayouts/slideLayout1.xml" Id="R86cdba28c04e44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cdba28c04e44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191d32975a4f4f" /><Relationship Type="http://schemas.openxmlformats.org/officeDocument/2006/relationships/image" Target="/ppt/media/image.jpeg" Id="Ra0e70f33c7644438" /><Relationship Type="http://schemas.openxmlformats.org/officeDocument/2006/relationships/notesSlide" Target="/ppt/notesSlides/notesSlide1.xml" Id="R6f861289e52b48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64885c12f43cf" /><Relationship Type="http://schemas.openxmlformats.org/officeDocument/2006/relationships/notesSlide" Target="/ppt/notesSlides/notesSlide2.xml" Id="R176fee0dfcf44c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1584c85224e3a" /><Relationship Type="http://schemas.openxmlformats.org/officeDocument/2006/relationships/notesSlide" Target="/ppt/notesSlides/notesSlide3.xml" Id="Ra44d4962d7324e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db435ce1f4804" /><Relationship Type="http://schemas.openxmlformats.org/officeDocument/2006/relationships/notesSlide" Target="/ppt/notesSlides/notesSlide4.xml" Id="R520c643aad214b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b52d8d2fc443b" /><Relationship Type="http://schemas.openxmlformats.org/officeDocument/2006/relationships/image" Target="/ppt/media/image2.jpeg" Id="R1ff2016ec7e44944" /><Relationship Type="http://schemas.openxmlformats.org/officeDocument/2006/relationships/notesSlide" Target="/ppt/notesSlides/notesSlide5.xml" Id="Rbb94b7eed60043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0277f3d409463c" /><Relationship Type="http://schemas.openxmlformats.org/officeDocument/2006/relationships/image" Target="/ppt/media/image.png" Id="Rad85b0ec4a804fa4" /><Relationship Type="http://schemas.openxmlformats.org/officeDocument/2006/relationships/notesSlide" Target="/ppt/notesSlides/notesSlide6.xml" Id="Re57dc34b8bab44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d07dbef37541e6" /><Relationship Type="http://schemas.openxmlformats.org/officeDocument/2006/relationships/chart" Target="/ppt/slides/charts/chart1.xml" Id="Rffe45187945e4d8e" /><Relationship Type="http://schemas.openxmlformats.org/officeDocument/2006/relationships/notesSlide" Target="/ppt/notesSlides/notesSlide7.xml" Id="Rd9db81368c8148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37d9b850af4732" /><Relationship Type="http://schemas.openxmlformats.org/officeDocument/2006/relationships/notesSlide" Target="/ppt/notesSlides/notesSlide8.xml" Id="R801a195a983448f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54d516a3aa4b20" /><Relationship Type="http://schemas.openxmlformats.org/officeDocument/2006/relationships/notesSlide" Target="/ppt/notesSlides/notesSlide9.xml" Id="Rab4f4570617743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316b0bce4d4554" /><Relationship Type="http://schemas.openxmlformats.org/officeDocument/2006/relationships/image" Target="/ppt/media/image3.jpeg" Id="R6963f8f5fa9240f7" /><Relationship Type="http://schemas.openxmlformats.org/officeDocument/2006/relationships/notesSlide" Target="/ppt/notesSlides/notesSlide10.xml" Id="Rc4d8c3018d1749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f75306cdf46ca" /><Relationship Type="http://schemas.openxmlformats.org/officeDocument/2006/relationships/image" Target="/ppt/media/image4.jpeg" Id="R46706e66bce543a2" /><Relationship Type="http://schemas.openxmlformats.org/officeDocument/2006/relationships/notesSlide" Target="/ppt/notesSlides/notesSlide11.xml" Id="R3a7b39f8df974dc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81840ee204e63" /><Relationship Type="http://schemas.openxmlformats.org/officeDocument/2006/relationships/image" Target="/ppt/media/image5.jpeg" Id="R146a911e4552432c" /><Relationship Type="http://schemas.openxmlformats.org/officeDocument/2006/relationships/image" Target="/ppt/media/image6.jpeg" Id="R65f6371098f1443a" /><Relationship Type="http://schemas.openxmlformats.org/officeDocument/2006/relationships/notesSlide" Target="/ppt/notesSlides/notesSlide12.xml" Id="R9a05b724830f418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2bee36cb04e7d" /><Relationship Type="http://schemas.openxmlformats.org/officeDocument/2006/relationships/notesSlide" Target="/ppt/notesSlides/notesSlide13.xml" Id="R885178f9d47b41b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2003b848da46b3" /><Relationship Type="http://schemas.openxmlformats.org/officeDocument/2006/relationships/notesSlide" Target="/ppt/notesSlides/notesSlide14.xml" Id="R8af3c0164a7e42c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43441c0ad04d25" /><Relationship Type="http://schemas.openxmlformats.org/officeDocument/2006/relationships/notesSlide" Target="/ppt/notesSlides/notesSlide15.xml" Id="R1e05a7e05dff4a4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c92c81ac5a4eb8" /><Relationship Type="http://schemas.openxmlformats.org/officeDocument/2006/relationships/notesSlide" Target="/ppt/notesSlides/notesSlide16.xml" Id="R44e6edc7520b49b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bacbb755a488e" /><Relationship Type="http://schemas.openxmlformats.org/officeDocument/2006/relationships/notesSlide" Target="/ppt/notesSlides/notesSlide17.xml" Id="R1e64b85b4aff4353" /></Relationships>
</file>

<file path=ppt/slides/charts/chart1.xml><?xml version="1.0" encoding="utf-8"?>
<c:chartSpace xmlns:c="http://schemas.openxmlformats.org/drawingml/2006/chart">
  <c:lang val="en-US"/>
  <c:roundedCorners val="1"/>
  <c:style val="2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v>验证集Top-1</c:v>
          </c:tx>
          <c:spPr>
            <a:solidFill xmlns:a="http://schemas.openxmlformats.org/drawingml/2006/main">
              <a:srgbClr val="3D8DFF"/>
            </a:solidFill>
          </c:spPr>
          <c:dLbls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1">
                    <a:solidFill>
                      <a:srgbClr val="111318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bag</c:v>
              </c:pt>
              <c:pt idx="1">
                <c:v>bottle</c:v>
              </c:pt>
              <c:pt idx="2">
                <c:v>box</c:v>
              </c:pt>
              <c:pt idx="3">
                <c:v>cylinder</c:v>
              </c:pt>
            </c:strLit>
          </c:cat>
          <c:val>
            <c:numLit>
              <c:formatCode>General</c:formatCode>
              <c:ptCount val="4"/>
              <c:pt idx="0">
                <c:v>100</c:v>
              </c:pt>
              <c:pt idx="1">
                <c:v>100</c:v>
              </c:pt>
              <c:pt idx="2">
                <c:v>100</c:v>
              </c:pt>
              <c:pt idx="3">
                <c:v>99.59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0656F"/>
                </a:solidFill>
              </a:defRPr>
            </a:pPr>
          </a:p>
        </c:txPr>
        <c:crossAx val="48672768"/>
        <c:crosses val="autoZero"/>
        <c:lblOffset val="100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318"/>
                </a:solidFill>
              </a:defRPr>
            </a:pPr>
          </a:p>
        </c:txPr>
        <c:crossAx val="48650112"/>
        <c:crosses val="autoZero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A4C4E94-4325-4870-BC76-B9D69FF3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1315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5C8FF"/>
                </a:solidFill>
                <a:latin typeface="Microsoft YaHei"/>
                <a:ea typeface="Microsoft YaHei"/>
                <a:cs typeface="Microsoft YaHei"/>
              </a:rPr>
              <a:t>智能称重台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225DEF6-77D7-4699-9FB6-F9348F76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5334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基于目标检测与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深度特征检索的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智能商品结算原型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B31452F-CAEF-4DF4-A22F-FE93B8EC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48200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YOLOv8n · ResNet18 · ONNX Runtime · MySQL · PySide6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B3748B4-61FB-43AB-9F82-EB66DF0A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课程项目答辩</a:t>
            </a:r>
          </a:p>
        </p:txBody>
      </p:sp>
      <p:sp>
        <p:nvSpPr>
          <p:cNvPr id="5" name="矩形: 圆角 4">
            <a:extLst xmlns:a="http://schemas.openxmlformats.org/drawingml/2006/main">
              <a:ext uri="{FF2B5EF4-FFF2-40B4-BE49-F238E27FC236}">
                <a16:creationId xmlns:a16="http://schemas.microsoft.com/office/drawing/2014/main" id="{30366DEC-D00B-4210-B699-9871E487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2069"/>
            </a:avLst>
          </a:prstGeom>
          <a:solidFill xmlns:a="http://schemas.openxmlformats.org/drawingml/2006/main">
            <a:srgbClr val="0E2038"/>
          </a:solidFill>
          <a:ln xmlns:a="http://schemas.openxmlformats.org/drawingml/2006/main" w="19050">
            <a:solidFill>
              <a:srgbClr val="55C8FF"/>
            </a:solidFill>
            <a:prstDash val="solid"/>
          </a:ln>
        </p:spPr>
      </p:sp>
      <p:pic>
        <p:nvPicPr>
          <p:cNvPr id="15" name="图片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e70f33c7644438"/>
          <a:srcRect xmlns:a="http://schemas.openxmlformats.org/drawingml/2006/main" l="22258" t="0" r="2225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1379"/>
            </a:avLst>
          </a:prstGeom>
        </p:spPr>
      </p:pic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BE518E1-D117-458A-A2AD-AD3C54BE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52573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7163EF6A-C2B1-4F5D-88B7-1CA6A964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把“看见商品”转化为可验证的结算结果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B10D264-2EAD-403F-AC70-EB0CC7E1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cxnSp>
        <p:nvCxnSpPr>
          <p:cNvPr id="31" name="直接箭头连接符 16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16A787D-9444-4719-A4C9-4238F986B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334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传统流程依赖人工确认商品与价格；本项目尝试让摄像头自动完成检测、识别、查价和计数。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949940B-878A-41F5-BEF4-E361D63A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7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05260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57A0030-AD99-4CA8-97F9-817E87AE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3143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多件商品同时出现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包装姿态与反光变化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未注册商品不能误计价</a:t>
            </a:r>
          </a:p>
        </p:txBody>
      </p:sp>
      <p:cxnSp>
        <p:nvCxnSpPr>
          <p:cNvPr id="35" name="直接箭头连接符 20"/>
          <p:cNvCxnSpPr/>
          <p:nvPr/>
        </p:nvCxnSpPr>
        <p:spPr>
          <a:xfrm xmlns:a="http://schemas.openxmlformats.org/drawingml/2006/main">
            <a:off x="3905250" y="2628900"/>
            <a:ext cx="95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noFill/>
            <a:prstDash val="solid"/>
          </a:ln>
        </p:spPr>
      </p:cxn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F500051-2832-46E0-850B-68272CEF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051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解决思路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AF08271-2047-4957-877D-89540B14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361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先检测包装大类，再路由到对应特征模型；通过相似度与类别间隔拒绝未知商品。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249E8E6-8670-4FA9-AF6D-6A203B41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66850"/>
            <a:ext cx="31051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E6082422-1359-4082-8EE1-E12C5AAB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6690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32F1B5E-6211-458C-A11A-2229C20C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摄像头 / 视频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B188ED61-2E8D-4E09-959A-45054289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81350"/>
            <a:ext cx="114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525BCD6E-8EDD-428B-B605-8797DBEC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81400"/>
            <a:ext cx="23431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商品名称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数量与金额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未知商品告警</a:t>
            </a:r>
          </a:p>
        </p:txBody>
      </p:sp>
    </p:spTree>
    <p:extLst>
      <p:ext uri="{BB962C8B-B14F-4D97-AF65-F5344CB8AC3E}">
        <p14:creationId xmlns:p14="http://schemas.microsoft.com/office/powerpoint/2010/main" val="13559366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6D13D36A-5777-4636-AD38-9F448851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项目范围被明确限制在四类包装与24个SKU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27F030C-5440-4912-B817-43273F75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cxnSp>
        <p:nvCxnSpPr>
          <p:cNvPr id="28" name="直接箭头连接符 21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6ABE8C1-9AE9-4270-B2FE-8FB2AE1F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以可复现、可演示、可验证为目标，完成从数据集到桌面端结算界面的闭环。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90CF935-48E2-4199-9862-D743A08A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35623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6A77CC0F-381A-47F7-B76D-21444C32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0A03BE4-AD02-4653-A910-22C91A75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ABDB12C-8420-4DAC-9FF3-AB803D6E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包装大类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FCE1DF6-3D8E-4622-BFF0-EAD917B4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3105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bag · bottle · box · cylinder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F7DA6F3-8ECF-4AF0-89E9-5AE4ED97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476500"/>
            <a:ext cx="35623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B94C957-75EE-4283-A51F-C7E8BF4E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4765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98BF0C0-873D-41AE-AFF3-F6588C74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76225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7F459C6-A761-4374-A0F9-AE1E29BE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7147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注册SKU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34E5586-54F9-4745-BFCC-CD19C070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210050"/>
            <a:ext cx="3105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每个包装大类6种商品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3E3086C-1916-429A-A7E0-CBCB71C7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35623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46C3AD5-E021-4E92-B5DE-68A32F01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6A7BCC8-F3D6-4C36-B6A5-155F79DF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83EEE66-CD41-4CDC-A2F5-07BCD362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1475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ONNX模型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2048C41-32C3-41DC-86A3-7123ABBC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0050"/>
            <a:ext cx="3105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1个检测模型 + 4个特征模型</a:t>
            </a:r>
          </a:p>
        </p:txBody>
      </p:sp>
    </p:spTree>
    <p:extLst>
      <p:ext uri="{BB962C8B-B14F-4D97-AF65-F5344CB8AC3E}">
        <p14:creationId xmlns:p14="http://schemas.microsoft.com/office/powerpoint/2010/main" val="2190309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D07F6722-6C0E-427C-A149-8EAAA92F7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系统采用“检测—检索—拒识—结算”四段式架构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BB4CC2D-8AD8-43F7-9673-93E2E4E1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cxnSp>
        <p:nvCxnSpPr>
          <p:cNvPr id="60" name="直接箭头连接符 41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cxnSp>
        <p:nvCxnSpPr>
          <p:cNvPr id="61" name="直接箭头连接符 42"/>
          <p:cNvCxnSpPr/>
          <p:nvPr/>
        </p:nvCxnSpPr>
        <p:spPr>
          <a:xfrm xmlns:a="http://schemas.openxmlformats.org/drawingml/2006/main">
            <a:off x="1600200" y="3324225"/>
            <a:ext cx="542925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D74FF"/>
            </a:solidFill>
            <a:prstDash val="solid"/>
          </a:ln>
        </p:spPr>
      </p:cxnSp>
      <p:cxnSp>
        <p:nvCxnSpPr>
          <p:cNvPr id="62" name="直接箭头连接符 43"/>
          <p:cNvCxnSpPr/>
          <p:nvPr/>
        </p:nvCxnSpPr>
        <p:spPr>
          <a:xfrm xmlns:a="http://schemas.openxmlformats.org/drawingml/2006/main">
            <a:off x="3343275" y="3324225"/>
            <a:ext cx="542925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D74FF"/>
            </a:solidFill>
            <a:prstDash val="solid"/>
          </a:ln>
        </p:spPr>
      </p:cxnSp>
      <p:cxnSp>
        <p:nvCxnSpPr>
          <p:cNvPr id="63" name="直接箭头连接符 44"/>
          <p:cNvCxnSpPr/>
          <p:nvPr/>
        </p:nvCxnSpPr>
        <p:spPr>
          <a:xfrm xmlns:a="http://schemas.openxmlformats.org/drawingml/2006/main">
            <a:off x="5086350" y="3324225"/>
            <a:ext cx="542925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D74FF"/>
            </a:solidFill>
            <a:prstDash val="solid"/>
          </a:ln>
        </p:spPr>
      </p:cxnSp>
      <p:cxnSp>
        <p:nvCxnSpPr>
          <p:cNvPr id="64" name="直接箭头连接符 45"/>
          <p:cNvCxnSpPr/>
          <p:nvPr/>
        </p:nvCxnSpPr>
        <p:spPr>
          <a:xfrm xmlns:a="http://schemas.openxmlformats.org/drawingml/2006/main">
            <a:off x="6829425" y="3324225"/>
            <a:ext cx="542925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D74FF"/>
            </a:solidFill>
            <a:prstDash val="solid"/>
          </a:ln>
        </p:spPr>
      </p:cxnSp>
      <p:cxnSp>
        <p:nvCxnSpPr>
          <p:cNvPr id="65" name="直接箭头连接符 46"/>
          <p:cNvCxnSpPr/>
          <p:nvPr/>
        </p:nvCxnSpPr>
        <p:spPr>
          <a:xfrm xmlns:a="http://schemas.openxmlformats.org/drawingml/2006/main">
            <a:off x="8572500" y="3324225"/>
            <a:ext cx="542925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D74FF"/>
            </a:solidFill>
            <a:prstDash val="solid"/>
          </a:ln>
        </p:spPr>
      </p:cxnSp>
      <p:cxnSp>
        <p:nvCxnSpPr>
          <p:cNvPr id="66" name="直接箭头连接符 47"/>
          <p:cNvCxnSpPr/>
          <p:nvPr/>
        </p:nvCxnSpPr>
        <p:spPr>
          <a:xfrm xmlns:a="http://schemas.openxmlformats.org/drawingml/2006/main">
            <a:off x="10315575" y="3324225"/>
            <a:ext cx="542925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D74FF"/>
            </a:solidFill>
            <a:prstDash val="solid"/>
          </a:ln>
        </p:spPr>
      </p:cxn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7355FE8-E988-44CA-87F3-FC0AB101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00350"/>
            <a:ext cx="1200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248A2EB-2157-4D55-BF91-4F70EF98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14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5953328-DD09-4547-9A8C-942BAE6B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004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摄像头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9BFE228-AE34-43BA-927C-F26599E3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24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视频帧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057986EA-BA9A-4EE7-8267-5435132B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00350"/>
            <a:ext cx="1200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5A43A84-899B-4E6E-83F6-8957C4F4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2914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329F649-A1FE-4D03-A472-C0A37A80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2004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YOLO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8283421-9287-4E33-86CE-19F80114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3524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包装检测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8283267-44F9-43C7-8536-43D985E5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00350"/>
            <a:ext cx="1200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BF4ADFD-3BF6-4271-B3DE-3C15650A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914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81C75BE-5C10-49E9-B560-1932D36A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2004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裁剪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8D568AE0-94FB-435E-B260-C5451D7D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524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5% padding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B8FDE23C-465A-4E28-A276-2E7EDC4C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2800350"/>
            <a:ext cx="1200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D68290A4-ADF3-4A6F-869B-B584829C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914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D8D2BCE9-F9B7-45D3-B8D5-5E92D172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2004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ResNet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2E2C95F-7478-4166-8EEF-F5B967C7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524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512维特征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C2F30A4B-AB25-4F40-9EB1-3073CE61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800350"/>
            <a:ext cx="1200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8EF62304-B2B1-49D2-9A40-3602E8B3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914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202350AA-79E2-44E4-8077-6B550C14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004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开放集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CBFB8551-1701-4FC6-94F8-21E961D2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24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相似度+间隔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27B1E505-7C46-4EBF-A6BB-94895233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800350"/>
            <a:ext cx="1200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846E049B-F3B6-4D0A-8943-733FF7F29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914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D4B74F36-057F-42B2-A0F4-E67F6826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2004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MySQL</a:t>
            </a: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ACCE9233-FB20-41D1-A5C1-780172E0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3524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商品与价格</a:t>
            </a: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7A39F1FF-73B4-4067-A581-24D8D3F9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00350"/>
            <a:ext cx="1200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58260FB7-2F34-43E3-908B-B8D0CE3D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2914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9F47E3C3-68FE-4750-AF03-E9F4AC65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2004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Qt</a:t>
            </a: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722D1519-78AB-45F3-9D81-53F705B88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524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购物车结算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113592AD-8750-4133-8616-B99C39EC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为什么不是单模型？</a:t>
            </a:r>
          </a:p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B92D27F8-A4CD-4523-8B73-11671A9D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检测模型解决“在哪里、属于哪种包装”；特征检索解决“具体是哪一个SKU”；开放集判定解决“是否应该拒绝”。</a:t>
            </a:r>
          </a:p>
        </p:txBody>
      </p:sp>
    </p:spTree>
    <p:extLst>
      <p:ext uri="{BB962C8B-B14F-4D97-AF65-F5344CB8AC3E}">
        <p14:creationId xmlns:p14="http://schemas.microsoft.com/office/powerpoint/2010/main" val="20365860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B97EDD52-48FB-409C-9065-99AE9743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数据集从视频中构建，并主动控制模糊与重复帧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7DF908B-D426-468C-9383-935EBDD7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cxnSp>
        <p:nvCxnSpPr>
          <p:cNvPr id="25" name="直接箭头连接符 16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7078ED0-80CA-4C1C-A813-3B734B48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60960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pic>
        <p:nvPicPr>
          <p:cNvPr id="27" name="图片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f2016ec7e44944"/>
          <a:stretch xmlns:a="http://schemas.openxmlformats.org/drawingml/2006/main"/>
        </p:blipFill>
        <p:spPr>
          <a:xfrm xmlns:a="http://schemas.openxmlformats.org/drawingml/2006/main">
            <a:off x="1342052" y="1409700"/>
            <a:ext cx="4211996" cy="4476750"/>
          </a:xfrm>
          <a:prstGeom xmlns:a="http://schemas.openxmlformats.org/drawingml/2006/main" prst="roundRect">
            <a:avLst>
              <a:gd name="adj" fmla="val 1809"/>
            </a:avLst>
          </a:prstGeom>
        </p:spPr>
      </p:pic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89874EF-6523-4F1A-94B4-71D879AA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4287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828C4BB-E292-4D46-A507-26EE5CF0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52625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按SKU录制视频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38352D0-26CC-4240-B324-219C4BF7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76500"/>
            <a:ext cx="4286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训练、验证视频按商品目录分开组织，减少同一视频帧跨集合泄漏。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D2FF92E-C63B-41FE-A1F4-3DAAD5BA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908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DCB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5C8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977ED1-D4FF-4916-B577-3BAD05A7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514725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YOLO定位与跟踪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E860311-6508-4EAE-8BE1-DD9837A0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38600"/>
            <a:ext cx="4286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从视频帧中找到目标，扩展裁剪区域并保留不同方向与姿态。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4C6DC31-AA49-48AA-B964-CDCD4BAA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5529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3A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B88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CDDCD70-BF2C-47BC-B141-CC9D6232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076825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质量过滤与去重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5BDE939A-E618-4919-BA40-98206C0E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600700"/>
            <a:ext cx="4286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清晰度筛选、感知哈希去重和抽样上限共同抑制冗余。</a:t>
            </a:r>
          </a:p>
        </p:txBody>
      </p:sp>
    </p:spTree>
    <p:extLst>
      <p:ext uri="{BB962C8B-B14F-4D97-AF65-F5344CB8AC3E}">
        <p14:creationId xmlns:p14="http://schemas.microsoft.com/office/powerpoint/2010/main" val="17773007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7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DA11E353-49EB-459B-B327-C43BB953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YOLOv8n在四类包装检测上达到稳定收敛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7822218-72F3-436E-BD58-2FEA3FE1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cxnSp>
        <p:nvCxnSpPr>
          <p:cNvPr id="23" name="直接箭头连接符 14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F6C59C8-20A8-4E59-AF23-B0D97B28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pic>
        <p:nvPicPr>
          <p:cNvPr id="25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85b0ec4a804fa4"/>
          <a:stretch xmlns:a="http://schemas.openxmlformats.org/drawingml/2006/main"/>
        </p:blipFill>
        <p:spPr>
          <a:xfrm xmlns:a="http://schemas.openxmlformats.org/drawingml/2006/main">
            <a:off x="400050" y="1590675"/>
            <a:ext cx="7239000" cy="3619500"/>
          </a:xfrm>
          <a:prstGeom xmlns:a="http://schemas.openxmlformats.org/drawingml/2006/main" prst="roundRect">
            <a:avLst>
              <a:gd name="adj" fmla="val 2105"/>
            </a:avLst>
          </a:prstGeom>
        </p:spPr>
      </p:pic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B1034D-4B63-4822-9CD7-0AA26083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24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0.9946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B05D5EE-8E1B-41AC-908F-8FAF226B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907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Precision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FE402FD-9E57-44D0-B765-E00609F4A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908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0.9868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4CFB634-FAB8-448C-B3AD-79505400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7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Recall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70E0064-32D9-460B-9C35-F67B052E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577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0.7883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EB3F583C-A103-4A21-887D-6C3E6EB3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244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mAP50–95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C043B46-B901-47E1-9C32-831ABD0A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293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训练100轮 · 输入640 · conf 0.25 · IoU 0.45</a:t>
            </a:r>
          </a:p>
        </p:txBody>
      </p:sp>
    </p:spTree>
    <p:extLst>
      <p:ext uri="{BB962C8B-B14F-4D97-AF65-F5344CB8AC3E}">
        <p14:creationId xmlns:p14="http://schemas.microsoft.com/office/powerpoint/2010/main" val="6813359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7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40095846-8ED3-4295-9FD7-ACA3136D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四个ResNet18分别学习各包装组内的细粒度差异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5D676AD-5E39-4AC2-A95F-94CB195C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cxnSp>
        <p:nvCxnSpPr>
          <p:cNvPr id="20" name="直接箭头连接符 11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400050" y="1504950"/>
          <a:ext xmlns:a="http://schemas.openxmlformats.org/drawingml/2006/main" cx="64770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e45187945e4d8e"/>
          </a:graphicData>
        </a:graphic>
      </p:graphicFrame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3CA4386A-8937-40C1-8AB1-4F3D44FB7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6002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为什么训练4个模型？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26C6FA4-8FDF-4FD1-9AB1-552F4C79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09800"/>
            <a:ext cx="381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YOLO先确定包装组，每个ResNet只需区分6个SKU。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DEA2D60-9B81-4C42-B706-2423B6E6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3810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输出不直接使用Softmax分类，而是移除fc层，得到512维L2归一化特征。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0BC49D9-6684-43F1-8245-2F06773F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86300"/>
            <a:ext cx="3810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D61DAF0-A901-4428-AFDB-FF8FE04F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72050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5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31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831"/>
                </a:solidFill>
                <a:latin typeface="Consolas"/>
                <a:ea typeface="Consolas"/>
                <a:cs typeface="Consolas"/>
              </a:rPr>
              <a:t>ResNet18 → fc = Identity → 512D</a:t>
            </a:r>
          </a:p>
        </p:txBody>
      </p:sp>
    </p:spTree>
    <p:extLst>
      <p:ext uri="{BB962C8B-B14F-4D97-AF65-F5344CB8AC3E}">
        <p14:creationId xmlns:p14="http://schemas.microsoft.com/office/powerpoint/2010/main" val="10151997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4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84A6411E-4FD6-4396-8A9E-41CB98CA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类中心与Top-K样本联合检索，避免只看一次Softmax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67A8EC0-D830-49F3-9990-4A36E99D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cxnSp>
        <p:nvCxnSpPr>
          <p:cNvPr id="31" name="直接箭头连接符 24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94463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63FFB8B5-CB6B-4159-AE1B-B0676D02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73342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038"/>
          </a:solidFill>
          <a:ln xmlns:a="http://schemas.openxmlformats.org/drawingml/2006/main" w="9525">
            <a:solidFill>
              <a:srgbClr val="294463"/>
            </a:solidFill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9C82662-7816-4F3C-9661-CE51BFFD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666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318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score(class) = 0.7 × center_similarity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111318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+ 0.3 × mean(top5_similarity)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B6DBE79-4AC1-4710-80DE-E72F52D1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开放集判定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96B2B2D-AC3F-4691-9F4E-110AACC7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26670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038"/>
          </a:solidFill>
          <a:ln xmlns:a="http://schemas.openxmlformats.org/drawingml/2006/main" w="9525">
            <a:solidFill>
              <a:srgbClr val="294463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AFB46DA-8740-4733-97B7-EB3D251F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24250"/>
            <a:ext cx="66675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B8F72E7-C8CC-41AD-A7A9-30AF3C0A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10000"/>
            <a:ext cx="2209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≥ 0.80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25BCC62-3F21-4E82-A88B-23F86621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62500"/>
            <a:ext cx="2209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Top-1相似度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EECE35B-77F5-4DAC-A6F6-E18B0E9C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2578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候选必须足够接近已注册商品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19408A72-077F-4C1A-AADA-1068106F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24250"/>
            <a:ext cx="26670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038"/>
          </a:solidFill>
          <a:ln xmlns:a="http://schemas.openxmlformats.org/drawingml/2006/main" w="9525">
            <a:solidFill>
              <a:srgbClr val="294463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EA7ECF7-DA99-4823-B0C3-E7A5E45E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24250"/>
            <a:ext cx="66675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C94B59E-D43B-435B-A532-97A30FAF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10000"/>
            <a:ext cx="2209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≥ 0.15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11985209-6F42-4AD3-A095-7F94873B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762500"/>
            <a:ext cx="2209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Top1–Top2间隔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7FD6D058-305C-4822-A90B-BABC43AB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2578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避免“跟多个商品都像”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4494219-4A84-4115-944F-8553446E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524250"/>
            <a:ext cx="26670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038"/>
          </a:solidFill>
          <a:ln xmlns:a="http://schemas.openxmlformats.org/drawingml/2006/main" w="9525">
            <a:solidFill>
              <a:srgbClr val="294463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83BF7EB-8508-4C89-BC13-394F0614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524250"/>
            <a:ext cx="66675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5C12596-EE1E-4D03-8841-BBB0E100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10000"/>
            <a:ext cx="2209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25帧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58F7F11C-183D-4BD5-BB20-93B7D2D4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762500"/>
            <a:ext cx="2209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稳定窗口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739A6343-B7CD-4E60-BF1E-2CDEBD80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2578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用最常见商品组合生成购物车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1747005C-918C-4D2C-A83E-069C10F1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62100"/>
            <a:ext cx="31623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7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7480"/>
                </a:solidFill>
                <a:latin typeface="Microsoft YaHei"/>
                <a:ea typeface="Microsoft YaHei"/>
                <a:cs typeface="Microsoft YaHei"/>
              </a:rPr>
              <a:t>两个条件任一不满足 → 标记未注册，不进入购物车</a:t>
            </a:r>
          </a:p>
        </p:txBody>
      </p:sp>
    </p:spTree>
    <p:extLst>
      <p:ext uri="{BB962C8B-B14F-4D97-AF65-F5344CB8AC3E}">
        <p14:creationId xmlns:p14="http://schemas.microsoft.com/office/powerpoint/2010/main" val="19250372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7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908834E6-F8BE-4C63-B9B7-FE4CFCF4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五个模型统一部署为ONNX，并优先使用CUDA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F951D90-90DC-4B99-8DF1-539D78595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cxnSp>
        <p:nvCxnSpPr>
          <p:cNvPr id="43" name="直接箭头连接符 30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cxnSp>
        <p:nvCxnSpPr>
          <p:cNvPr id="44" name="直接箭头连接符 31"/>
          <p:cNvCxnSpPr/>
          <p:nvPr/>
        </p:nvCxnSpPr>
        <p:spPr>
          <a:xfrm xmlns:a="http://schemas.openxmlformats.org/drawingml/2006/main">
            <a:off x="1905000" y="3314700"/>
            <a:ext cx="16192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D74FF"/>
            </a:solidFill>
            <a:prstDash val="solid"/>
          </a:ln>
        </p:spPr>
      </p:cxnSp>
      <p:cxnSp>
        <p:nvCxnSpPr>
          <p:cNvPr id="45" name="直接箭头连接符 32"/>
          <p:cNvCxnSpPr/>
          <p:nvPr/>
        </p:nvCxnSpPr>
        <p:spPr>
          <a:xfrm xmlns:a="http://schemas.openxmlformats.org/drawingml/2006/main">
            <a:off x="5238750" y="3314700"/>
            <a:ext cx="16192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D74FF"/>
            </a:solidFill>
            <a:prstDash val="solid"/>
          </a:ln>
        </p:spPr>
      </p:cxnSp>
      <p:cxnSp>
        <p:nvCxnSpPr>
          <p:cNvPr id="46" name="直接箭头连接符 33"/>
          <p:cNvCxnSpPr/>
          <p:nvPr/>
        </p:nvCxnSpPr>
        <p:spPr>
          <a:xfrm xmlns:a="http://schemas.openxmlformats.org/drawingml/2006/main">
            <a:off x="8572500" y="3314700"/>
            <a:ext cx="1619250" cy="9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D74FF"/>
            </a:solidFill>
            <a:prstDash val="solid"/>
          </a:ln>
        </p:spPr>
      </p:cxn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D1F47A6-39CB-4E10-94F2-224526A2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017BA4C-5967-4E12-819A-66E300F5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1790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667EC97-31C7-464B-A3FE-5F87E81D7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PT模型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6F71B6F-C279-4C7D-9D2E-38DDE95B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146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YOLO + 4个ResNet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3401C320-F6F3-4E99-98D6-D3940347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3835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C260026-5C2F-46C4-B7B5-05D988B8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09850"/>
            <a:ext cx="1790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D146DF5E-8081-4942-AB1B-EB06106F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导出ONNX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09B8779-46BC-4083-8980-6158B2C0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52800"/>
            <a:ext cx="146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固定输入与预处理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D4BC31A-13AA-44A1-9150-33B6D972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3835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62AD594-41A4-4EAE-8F5B-08B976E0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609850"/>
            <a:ext cx="1790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3DF159E-297E-474F-B214-CC9784D5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一致性验证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DD7BFB6-43FF-40E5-8ED6-6D5ADDDB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52800"/>
            <a:ext cx="146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特征余弦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框级IoU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0E862AF7-7E80-4208-8F47-7040BE0D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03835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D02CEB08-921A-4CA8-8363-DB0C4C3B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09850"/>
            <a:ext cx="17907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07A32898-5670-4562-BD76-FE584B68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85750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端侧运行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14D8DAA-48F9-4A12-9529-1A4E7C0E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352800"/>
            <a:ext cx="1466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CUDA优先，CPU回退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F660FC4-704B-4263-AF4B-C0216550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85775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1.000000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237BBC88-22BB-415E-9206-5C095315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4673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PT与ONNX特征余弦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19F57B8-EDE6-432F-BB1B-9DD4AF14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57750"/>
            <a:ext cx="2095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0.9932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1B979DE3-526F-42DE-8023-D13172FC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4673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检测框IoU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56987C80-D81C-484C-B4F6-15166AA8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5775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2850" b="1">
                <a:solidFill>
                  <a:srgbClr val="13A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1B883"/>
                </a:solidFill>
                <a:latin typeface="Microsoft YaHei"/>
                <a:ea typeface="Microsoft YaHei"/>
                <a:cs typeface="Microsoft YaHei"/>
              </a:rPr>
              <a:t>约7 ms/帧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F64D7A84-918B-443B-8FC8-9949075C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467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YOLO CUDA推理</a:t>
            </a:r>
          </a:p>
        </p:txBody>
      </p:sp>
    </p:spTree>
    <p:extLst>
      <p:ext uri="{BB962C8B-B14F-4D97-AF65-F5344CB8AC3E}">
        <p14:creationId xmlns:p14="http://schemas.microsoft.com/office/powerpoint/2010/main" val="15802919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902225EB-F4B0-4459-9255-BDED6283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Qt端把识别结果组织成购物车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78E582B-89CC-43CA-9707-77C9AD38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cxnSp>
        <p:nvCxnSpPr>
          <p:cNvPr id="20" name="直接箭头连接符 11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8BF5A56-7BEF-4ED4-8796-D8FB8549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71600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pic>
        <p:nvPicPr>
          <p:cNvPr id="22" name="图片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63f8f5fa9240f7"/>
          <a:srcRect xmlns:a="http://schemas.openxmlformats.org/drawingml/2006/main" l="2907" t="0" r="29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371600"/>
            <a:ext cx="6858000" cy="4095750"/>
          </a:xfrm>
          <a:prstGeom xmlns:a="http://schemas.openxmlformats.org/drawingml/2006/main" prst="roundRect">
            <a:avLst>
              <a:gd name="adj" fmla="val 1860"/>
            </a:avLst>
          </a:prstGeom>
        </p:spPr>
      </p:pic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41141DF-D96C-4905-B0CF-27D99C76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049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后台线程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E03CC21-5330-40E9-B667-CADCA369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19300"/>
            <a:ext cx="3619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QThread持续读取视频与执行ONNX推理，界面线程只负责交互和渲染。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5AB044D-D419-414F-A0C7-B4A81FDE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交互能力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B9CFDD9-117A-4EB2-9F6E-6EEDCC22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90950"/>
            <a:ext cx="36195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摄像头 / 本地视频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暂停、停止与重置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购物车与金额展示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未知商品告警与注册入口</a:t>
            </a:r>
          </a:p>
        </p:txBody>
      </p:sp>
    </p:spTree>
    <p:extLst>
      <p:ext uri="{BB962C8B-B14F-4D97-AF65-F5344CB8AC3E}">
        <p14:creationId xmlns:p14="http://schemas.microsoft.com/office/powerpoint/2010/main" val="14005084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4E5C486A-88F1-49FB-9662-9AAFD61D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未注册商品可以通过视频建立多姿态原型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95C10F4-0AD2-4073-951A-A32C4A4E9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cxnSp>
        <p:nvCxnSpPr>
          <p:cNvPr id="28" name="直接箭头连接符 19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83E7894-0D62-4BA1-B2EB-3F19EBD0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71600"/>
            <a:ext cx="40957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pic>
        <p:nvPicPr>
          <p:cNvPr id="30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706e66bce543a2"/>
          <a:srcRect xmlns:a="http://schemas.openxmlformats.org/drawingml/2006/main" l="0" t="17297" r="0" b="172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371600"/>
            <a:ext cx="4095750" cy="4762500"/>
          </a:xfrm>
          <a:prstGeom xmlns:a="http://schemas.openxmlformats.org/drawingml/2006/main" prst="roundRect">
            <a:avLst>
              <a:gd name="adj" fmla="val 1860"/>
            </a:avLst>
          </a:prstGeom>
        </p:spPr>
      </p:pic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33705B2-F97D-4D1E-8CD9-524B6253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4097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E484627-FF67-488F-81FB-EB984ED6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3357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采样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A0D0ABD-D08A-4781-B942-F7B028B0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574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从补充视频跨时间均匀采样66帧，而不是连续截取相邻画面。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C7A8E20-311C-476F-925B-FB7EE51E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4097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DCB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5C8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D777A3AF-83C5-444A-844E-E811F4727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3357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过滤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DC1E2251-F955-47DC-8508-E290148F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5745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清晰度筛选与感知哈希去重，最终保留52个有效特征。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722123F-04B0-46B2-AD93-DFE79F78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433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3A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B88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85E8F40-9721-4F74-B078-684F20A6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46722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原型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061CCD6-13C3-4FEC-81A9-FAC91531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9911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按姿态建立4个原型，覆盖正放、横放和背面等外观变化。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83A466B-9A4E-4C13-802C-0DC7DFE9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94335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29B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B8EABE3-8BA4-4271-9AFE-99F23F39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6722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热重载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8FAE430B-9BC7-4C77-9BE1-0BCA2711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991100"/>
            <a:ext cx="2857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同步写入MySQL和特征库，推理线程安全重载后立即识别。</a:t>
            </a:r>
          </a:p>
        </p:txBody>
      </p:sp>
    </p:spTree>
    <p:extLst>
      <p:ext uri="{BB962C8B-B14F-4D97-AF65-F5344CB8AC3E}">
        <p14:creationId xmlns:p14="http://schemas.microsoft.com/office/powerpoint/2010/main" val="18436115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4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0F0B8964-D53F-4834-99BB-CDF5EF6B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同一件阿萨姆：注册前拒绝，注册后正确计价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E3AAB86-6963-4829-81EF-AB77E7D3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cxnSp>
        <p:nvCxnSpPr>
          <p:cNvPr id="24" name="直接箭头连接符 13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94463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7717E01-D7E1-4C48-A66C-976F73A7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5429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038"/>
          </a:solidFill>
          <a:ln xmlns:a="http://schemas.openxmlformats.org/drawingml/2006/main" w="9525">
            <a:solidFill>
              <a:srgbClr val="294463"/>
            </a:solidFill>
            <a:prstDash val="solid"/>
          </a:ln>
        </p:spPr>
      </p:sp>
      <p:pic>
        <p:nvPicPr>
          <p:cNvPr id="26" name="图片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6a911e4552432c"/>
          <a:srcRect xmlns:a="http://schemas.openxmlformats.org/drawingml/2006/main" l="5469" t="0" r="546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466850"/>
            <a:ext cx="5429250" cy="3429000"/>
          </a:xfrm>
          <a:prstGeom xmlns:a="http://schemas.openxmlformats.org/drawingml/2006/main" prst="roundRect">
            <a:avLst>
              <a:gd name="adj" fmla="val 2222"/>
            </a:avLst>
          </a:prstGeom>
        </p:spPr>
      </p:pic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5223B30-6E22-40FD-8382-C00EDD4C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66850"/>
            <a:ext cx="54292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038"/>
          </a:solidFill>
          <a:ln xmlns:a="http://schemas.openxmlformats.org/drawingml/2006/main" w="9525">
            <a:solidFill>
              <a:srgbClr val="294463"/>
            </a:solidFill>
            <a:prstDash val="solid"/>
          </a:ln>
        </p:spPr>
      </p:sp>
      <p:pic>
        <p:nvPicPr>
          <p:cNvPr id="28" name="图片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f6371098f1443a"/>
          <a:srcRect xmlns:a="http://schemas.openxmlformats.org/drawingml/2006/main" l="5469" t="0" r="546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62700" y="1466850"/>
            <a:ext cx="5429250" cy="3429000"/>
          </a:xfrm>
          <a:prstGeom xmlns:a="http://schemas.openxmlformats.org/drawingml/2006/main" prst="roundRect">
            <a:avLst>
              <a:gd name="adj" fmla="val 2222"/>
            </a:avLst>
          </a:prstGeom>
        </p:spPr>
      </p:pic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F901096-C658-41A1-ADE9-77D55691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24450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D7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7480"/>
                </a:solidFill>
                <a:latin typeface="Microsoft YaHei"/>
                <a:ea typeface="Microsoft YaHei"/>
                <a:cs typeface="Microsoft YaHei"/>
              </a:rPr>
              <a:t>注册前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03382BD-8B43-4A37-AF37-88464B9C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阿萨姆被开放集判定拒绝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购物车：7件，¥38.60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46F8F31-0B5C-44DD-86AE-B18E9492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124450"/>
            <a:ext cx="133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3A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4D3A2"/>
                </a:solidFill>
                <a:latin typeface="Microsoft YaHei"/>
                <a:ea typeface="Microsoft YaHei"/>
                <a:cs typeface="Microsoft YaHei"/>
              </a:rPr>
              <a:t>注册后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9538E87-C983-42C7-8F78-208F8EF6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245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阿萨姆识别并计价¥3.00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购物车：8件，¥41.60</a:t>
            </a:r>
          </a:p>
        </p:txBody>
      </p:sp>
    </p:spTree>
    <p:extLst>
      <p:ext uri="{BB962C8B-B14F-4D97-AF65-F5344CB8AC3E}">
        <p14:creationId xmlns:p14="http://schemas.microsoft.com/office/powerpoint/2010/main" val="20644949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4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19D94C65-B873-443E-8CCE-02EF0B55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端到端验证证明识别、查价和稳定计数协同工作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B17F91D-7856-45D6-B133-91EA5DDB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cxnSp>
        <p:nvCxnSpPr>
          <p:cNvPr id="30" name="直接箭头连接符 23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94463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BAE84E3-1444-443F-8E5C-C99F8531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独立多商品视频验证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44ACB11-36BF-4427-B285-829FFDB8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809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注册后重新运行原验证视频，原7件商品与新增阿萨姆同时进入购物车。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B9024F-D9FD-494C-9C4F-32B71EA8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35623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038"/>
          </a:solidFill>
          <a:ln xmlns:a="http://schemas.openxmlformats.org/drawingml/2006/main" w="9525">
            <a:solidFill>
              <a:srgbClr val="294463"/>
            </a:solidFill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3B76605-CEDC-4BFE-A008-F2A1963B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7655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1B8EEC1-4F51-4293-9FFC-22469F91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6230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8件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F9EC098-B5D4-4D08-AC5D-8705C80EA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稳定购物车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A2DFB89-D056-4136-9638-A62D9019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010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包含2件同款乐事薯片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1D79B09-A72F-4883-8861-2B023268B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876550"/>
            <a:ext cx="35623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038"/>
          </a:solidFill>
          <a:ln xmlns:a="http://schemas.openxmlformats.org/drawingml/2006/main" w="9525">
            <a:solidFill>
              <a:srgbClr val="294463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1B7718B5-BBE3-4BE5-82C8-E0969AE2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87655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74D496C-C944-46DE-86C3-5563CABA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16230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¥41.60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ABCA910-9EC7-45BC-80CA-A8A5EFDC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11480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结算总金额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0E51816-5847-474D-875C-1D847668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61010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商品价格来自MySQL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F54EA83C-419F-4FE8-A793-1C2FB512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76550"/>
            <a:ext cx="35623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038"/>
          </a:solidFill>
          <a:ln xmlns:a="http://schemas.openxmlformats.org/drawingml/2006/main" w="9525">
            <a:solidFill>
              <a:srgbClr val="294463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6885256-957C-473E-8BAB-C2AE1232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7655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C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7EB7268C-0537-4EC1-83ED-15B25F51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6230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168帧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C605EE0E-93D9-4BC0-B146-643F8B14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14800"/>
            <a:ext cx="3105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稳定组合命中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C936978-C1D2-4BA4-AA80-35943DBD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10100"/>
            <a:ext cx="3105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结算窗口共262帧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636BB329-4443-4560-BB45-C9B17B05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1095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C8FF"/>
                </a:solidFill>
                <a:latin typeface="Microsoft YaHei"/>
                <a:ea typeface="Microsoft YaHei"/>
                <a:cs typeface="Microsoft YaHei"/>
              </a:rPr>
              <a:t>新拍阿萨姆视频：391 / 393个结算窗口帧稳定识别为1件，¥3.00</a:t>
            </a:r>
          </a:p>
        </p:txBody>
      </p:sp>
    </p:spTree>
    <p:extLst>
      <p:ext uri="{BB962C8B-B14F-4D97-AF65-F5344CB8AC3E}">
        <p14:creationId xmlns:p14="http://schemas.microsoft.com/office/powerpoint/2010/main" val="110724676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D2F084FA-FEAD-489C-B138-FFD1A716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验证覆盖了界面、边界、推理和在线注册四条链路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4C5889D9-AE23-4620-B823-CD9CDBAB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cxnSp>
        <p:nvCxnSpPr>
          <p:cNvPr id="65" name="直接箭头连接符 26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3E69E8F-9A50-4A68-99F0-397FDFD5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测试项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3E44EA3-3FB7-4F37-9FA6-49249B79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240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验证内容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ADF2F7AF-A2F1-4FAC-BDAC-48C55D53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5240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cxnSp>
        <p:nvCxnSpPr>
          <p:cNvPr id="69" name="直接箭头连接符 30"/>
          <p:cNvCxnSpPr/>
          <p:nvPr/>
        </p:nvCxnSpPr>
        <p:spPr>
          <a:xfrm xmlns:a="http://schemas.openxmlformats.org/drawingml/2006/main">
            <a:off x="400050" y="188595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E2F2"/>
            </a:solidFill>
            <a:prstDash val="solid"/>
          </a:ln>
        </p:spPr>
      </p:cxn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C905EC7-AFE0-4691-9332-00042F30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Qt界面冒烟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3B5248B-4FBD-4849-B676-9F26FC67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5740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离屏创建主窗口，摄像头线程不自动启动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C4845DE-58A6-440D-982E-D497EED1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0574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3A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B883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cxnSp>
        <p:nvCxnSpPr>
          <p:cNvPr id="73" name="直接箭头连接符 34"/>
          <p:cNvCxnSpPr/>
          <p:nvPr/>
        </p:nvCxnSpPr>
        <p:spPr>
          <a:xfrm xmlns:a="http://schemas.openxmlformats.org/drawingml/2006/main">
            <a:off x="400050" y="276225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E2F2"/>
            </a:solidFill>
            <a:prstDash val="solid"/>
          </a:ln>
        </p:spPr>
      </p:cxn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38B91032-FDD9-477A-83E0-E7F65497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337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标注边界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B539D551-F4D1-4CC8-935F-4407D04D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3370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检测框越过图像四边仍可安全绘制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0285C4A4-9E63-4A0B-AA9B-722FE30E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9337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3A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B883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cxnSp>
        <p:nvCxnSpPr>
          <p:cNvPr id="77" name="直接箭头连接符 38"/>
          <p:cNvCxnSpPr/>
          <p:nvPr/>
        </p:nvCxnSpPr>
        <p:spPr>
          <a:xfrm xmlns:a="http://schemas.openxmlformats.org/drawingml/2006/main">
            <a:off x="400050" y="363855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E2F2"/>
            </a:solidFill>
            <a:prstDash val="solid"/>
          </a:ln>
        </p:spPr>
      </p:cxn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63C5F422-0E22-45AF-9967-594FF641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推理引擎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3F966DC9-2A4D-40EC-B186-60C99FFB6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1000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ONNX + CUDA/CPU + MySQL单帧链路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07ECB57-4B5B-4AEA-BA5A-2B25F53A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8100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3A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B883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cxnSp>
        <p:nvCxnSpPr>
          <p:cNvPr id="81" name="直接箭头连接符 42"/>
          <p:cNvCxnSpPr/>
          <p:nvPr/>
        </p:nvCxnSpPr>
        <p:spPr>
          <a:xfrm xmlns:a="http://schemas.openxmlformats.org/drawingml/2006/main">
            <a:off x="400050" y="451485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E2F2"/>
            </a:solidFill>
            <a:prstDash val="solid"/>
          </a:ln>
        </p:spPr>
      </p:cxn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741A4306-815E-4DA5-B7F1-61B0AD68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863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在线注册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43DC012B-3F73-45E0-9045-A2A28DC4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8630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跨姿态注册、热重载和原商品回归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0EA6CA0C-63D9-48D5-91C7-0589C1B8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686300"/>
            <a:ext cx="104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13A3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B883"/>
                </a:solidFill>
                <a:latin typeface="Microsoft YaHe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A7A6908-A3B2-4444-B2BD-658C6B50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1391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EFF"/>
          </a:solidFill>
          <a:ln xmlns:a="http://schemas.openxmlformats.org/drawingml/2006/main" w="9525">
            <a:solidFill>
              <a:srgbClr val="D7E2F2"/>
            </a:solidFill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64191914-93A5-4D96-95B8-7C7DBDE4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48350"/>
            <a:ext cx="10934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测试证明当前答辩基线可运行；真实商用仍需要长时间、跨设备和断网断电测试。</a:t>
            </a:r>
          </a:p>
        </p:txBody>
      </p:sp>
    </p:spTree>
    <p:extLst>
      <p:ext uri="{BB962C8B-B14F-4D97-AF65-F5344CB8AC3E}">
        <p14:creationId xmlns:p14="http://schemas.microsoft.com/office/powerpoint/2010/main" val="2863176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15-title">
            <a:extLst xmlns:a="http://schemas.openxmlformats.org/drawingml/2006/main">
              <a:ext uri="{FF2B5EF4-FFF2-40B4-BE49-F238E27FC236}">
                <a16:creationId xmlns:a16="http://schemas.microsoft.com/office/drawing/2014/main" id="{17808026-51CA-439B-9E86-36C44E4E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三个关键问题推动了方案从分类走向检索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7017CE9-7048-49F5-B607-F768D994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cxnSp>
        <p:nvCxnSpPr>
          <p:cNvPr id="53" name="直接箭头连接符 20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FDFFC91-E0DB-4230-8E82-82B9C617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问题01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1A45752A-5092-4A99-ACF1-9F0D6B69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未注册饮料被强行分类</a:t>
            </a:r>
          </a:p>
        </p:txBody>
      </p:sp>
      <p:cxnSp>
        <p:nvCxnSpPr>
          <p:cNvPr id="56" name="直接箭头连接符 23"/>
          <p:cNvCxnSpPr/>
          <p:nvPr/>
        </p:nvCxnSpPr>
        <p:spPr>
          <a:xfrm xmlns:a="http://schemas.openxmlformats.org/drawingml/2006/main">
            <a:off x="400050" y="3371850"/>
            <a:ext cx="3143250" cy="9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D74FF"/>
            </a:solidFill>
            <a:prstDash val="solid"/>
          </a:ln>
        </p:spPr>
      </p:cxn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77067A0-435D-438E-92B9-33728445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385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解决方案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C962054A-3093-4C9B-A91A-C08200D7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14800"/>
            <a:ext cx="3143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引入Top1相似度与Top1–Top2间隔，低间隔商品直接拒绝。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6294FB7-5F79-44D3-9671-5D98E1E4C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19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问题02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B02D9E7-E759-499D-AB96-50D33423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098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真实摄像头与训练视频存在域差异</a:t>
            </a:r>
          </a:p>
        </p:txBody>
      </p:sp>
      <p:cxnSp>
        <p:nvCxnSpPr>
          <p:cNvPr id="61" name="直接箭头连接符 28"/>
          <p:cNvCxnSpPr/>
          <p:nvPr/>
        </p:nvCxnSpPr>
        <p:spPr>
          <a:xfrm xmlns:a="http://schemas.openxmlformats.org/drawingml/2006/main">
            <a:off x="4314825" y="3371850"/>
            <a:ext cx="3143250" cy="9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D74FF"/>
            </a:solidFill>
            <a:prstDash val="solid"/>
          </a:ln>
        </p:spPr>
      </p:cxn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0750E85-7BE0-4FFD-9F2E-176A75A3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6385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解决方案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9D96B62-E2D5-4123-8BCF-74033F09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114800"/>
            <a:ext cx="3143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补充真实场景样本，不重训模型，增量扩充特征库与姿态原型。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D32109F-D565-418F-AD9B-C9429AA9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192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问题03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ED7EC66C-F5DC-4893-8E0B-7B0A4993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098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新增商品可能影响旧类别</a:t>
            </a:r>
          </a:p>
        </p:txBody>
      </p:sp>
      <p:cxnSp>
        <p:nvCxnSpPr>
          <p:cNvPr id="66" name="直接箭头连接符 33"/>
          <p:cNvCxnSpPr/>
          <p:nvPr/>
        </p:nvCxnSpPr>
        <p:spPr>
          <a:xfrm xmlns:a="http://schemas.openxmlformats.org/drawingml/2006/main">
            <a:off x="8229600" y="3371850"/>
            <a:ext cx="3143250" cy="9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D74FF"/>
            </a:solidFill>
            <a:prstDash val="solid"/>
          </a:ln>
        </p:spPr>
      </p:cxn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5985F48-630D-447B-AF93-F829B2CC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解决方案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723ACF78-E605-4413-99F2-1776A399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14800"/>
            <a:ext cx="3143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原24类阈值冻结；动态类采用0.95高相似度前提并独立验证回归。</a:t>
            </a:r>
          </a:p>
        </p:txBody>
      </p:sp>
    </p:spTree>
    <p:extLst>
      <p:ext uri="{BB962C8B-B14F-4D97-AF65-F5344CB8AC3E}">
        <p14:creationId xmlns:p14="http://schemas.microsoft.com/office/powerpoint/2010/main" val="6976272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16-title">
            <a:extLst xmlns:a="http://schemas.openxmlformats.org/drawingml/2006/main">
              <a:ext uri="{FF2B5EF4-FFF2-40B4-BE49-F238E27FC236}">
                <a16:creationId xmlns:a16="http://schemas.microsoft.com/office/drawing/2014/main" id="{91D9B3F8-1C54-43F2-9511-BA6E1FF6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当前是视觉结算原型，下一步才是真正的称重与商超集成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ADFCC04-2097-4977-AA94-3444878D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191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A667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cxnSp>
        <p:nvCxnSpPr>
          <p:cNvPr id="25" name="直接箭头连接符 12"/>
          <p:cNvCxnSpPr/>
          <p:nvPr/>
        </p:nvCxnSpPr>
        <p:spPr>
          <a:xfrm xmlns:a="http://schemas.openxmlformats.org/drawingml/2006/main">
            <a:off x="400050" y="102870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7E2F2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97B3417-CE99-4233-9CC4-682FAA30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478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D7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05260"/>
                </a:solidFill>
                <a:latin typeface="Microsoft YaHei"/>
                <a:ea typeface="Microsoft YaHei"/>
                <a:cs typeface="Microsoft YaHei"/>
              </a:rPr>
              <a:t>当前边界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12BB916-00BE-4C9D-AD5C-B0499F167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4953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• 仅覆盖4类包装、24–25个SKU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• 没有真实称重传感器、去皮和稳重协议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• 结算仍是界面确认，没有支付与订单落库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• 复杂背景、横放罐装和近似包装仍是难点</a:t>
            </a:r>
          </a:p>
        </p:txBody>
      </p:sp>
      <p:cxnSp>
        <p:nvCxnSpPr>
          <p:cNvPr id="28" name="直接箭头连接符 15"/>
          <p:cNvCxnSpPr/>
          <p:nvPr/>
        </p:nvCxnSpPr>
        <p:spPr>
          <a:xfrm xmlns:a="http://schemas.openxmlformats.org/drawingml/2006/main">
            <a:off x="6000750" y="1352550"/>
            <a:ext cx="952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noFill/>
            <a:prstDash val="solid"/>
          </a:ln>
        </p:spPr>
      </p:cxn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29E2D88-A589-4DBC-AD94-D2013BB9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478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D74FF"/>
                </a:solidFill>
                <a:latin typeface="Microsoft YaHei"/>
                <a:ea typeface="Microsoft YaHei"/>
                <a:cs typeface="Microsoft YaHei"/>
              </a:rPr>
              <a:t>后续方向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EB12808-8D84-4D4D-98EE-D7CE12DC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33600"/>
            <a:ext cx="495300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• 接入检定电子秤，重量稳定后触发识别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• 用实例分割mask减少背景与遮挡干扰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• 引入条码/OCR作为相似包装兜底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• 对接PLU、打印、POS和订单系统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0B1831"/>
                </a:solidFill>
                <a:latin typeface="Microsoft YaHei"/>
                <a:ea typeface="Microsoft YaHei"/>
                <a:cs typeface="Microsoft YaHei"/>
              </a:rPr>
              <a:t>• 扩展真实门店数据与模型监控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3277E40-7C2E-4127-811E-90A47B03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1087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038"/>
          </a:solidFill>
          <a:ln xmlns:a="http://schemas.openxmlformats.org/drawingml/2006/main" w="9525">
            <a:solidFill>
              <a:srgbClr val="0E2038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44FEF4D-C605-44B8-B99F-8D26B612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62600"/>
            <a:ext cx="1055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项目价值：验证了一个可扩展的视觉识别子系统，而不是宣称已经复刻商用AI秤。</a:t>
            </a:r>
          </a:p>
        </p:txBody>
      </p:sp>
    </p:spTree>
    <p:extLst>
      <p:ext uri="{BB962C8B-B14F-4D97-AF65-F5344CB8AC3E}">
        <p14:creationId xmlns:p14="http://schemas.microsoft.com/office/powerpoint/2010/main" val="101315074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4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A18F887-4DA8-4C15-9E2F-10F03DFE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55C8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8383992-0547-4546-849A-7339EF97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80962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我们完成了从视频数据到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可交互结算原型的完整闭环</a:t>
            </a:r>
          </a:p>
        </p:txBody>
      </p:sp>
      <p:cxnSp>
        <p:nvCxnSpPr>
          <p:cNvPr id="23" name="直接箭头连接符 16"/>
          <p:cNvCxnSpPr/>
          <p:nvPr/>
        </p:nvCxnSpPr>
        <p:spPr>
          <a:xfrm xmlns:a="http://schemas.openxmlformats.org/drawingml/2006/main">
            <a:off x="400050" y="3448050"/>
            <a:ext cx="113919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C8FF"/>
            </a:solidFill>
            <a:prstDash val="solid"/>
          </a:ln>
        </p:spPr>
      </p:cxn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4C4125B-3FCD-4B14-A8BE-81F4BEB6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C8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12FC1583-F98F-49DD-9B48-DB63A875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386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工程闭环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223230B-9899-4AAB-A8DC-9EC54F3B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339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数据、训练、导出、数据库、Qt与测试均可复现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2D6D85D-CB78-484A-A354-3B5C7741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9433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C8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9DA2F0C-2DD5-439D-AE38-6F3D084D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4386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开放集识别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B74FB35-AE48-4372-B02C-D1DB4B85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9339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相似度与类别间隔共同避免未知商品误计价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DAC7147-2136-42FB-88E2-41E240AF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49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55C8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9C52DB7-F84E-4636-9B74-53410D58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3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在线扩展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F670DAC-9E90-4683-A526-A5C75472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933950"/>
            <a:ext cx="314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新商品通过多姿态原型注册并完成独立回归验证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16E93FE-F9F0-4571-B87C-4F70E8D3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0656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A9B8CF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9778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2026-08-28T08:25:56.1910000Z</dcterms:created>
  <dcterms:modified xsi:type="dcterms:W3CDTF">2026-08-28T08:25:56.1910000Z</dcterms:modified>
</coreProperties>
</file>