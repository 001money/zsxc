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501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验证集Top-1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11318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bag</c:v>
              </c:pt>
              <c:pt idx="1">
                <c:v>bottle</c:v>
              </c:pt>
              <c:pt idx="2">
                <c:v>box</c:v>
              </c:pt>
              <c:pt idx="3">
                <c:v>cylinder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99.59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22B-450A-A189-3955735CECE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0656F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11318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们汇报的项目是智能称重台。先说明项目边界：当前完成的是包装商品视觉识别与结算交互原型，不是已经接入计量认证和收银系统的商用秤。下面从任务范围、模型方案、工程部署、在线注册和验证结果五个方面进行汇报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D:/project/step1/week15/智能称重台demo/README.md</a:t>
            </a:r>
          </a:p>
          <a:p>
            <a:r>
              <a:t>- D:/project/step1/week15/智能称重台demo/runs/infer/video_infer/preview/frame_1246.jpg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要解决的不只是让模型看见商品，而是把视觉结果转化成可以结算的业务结果。系统需要判断包装类型和具体SKU，还要决定结果是否可信，最后稳定地进入购物车。因此，项目目标是一条从检测、识别、拒识到查价和展示的完整链路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D:/project/step1/week15/智能称重台demo/智能称重台项目计划书.md</a:t>
            </a:r>
          </a:p>
          <a:p>
            <a:r>
              <a:t>- D:/project/step1/week15/智能称重台demo/README.md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范围限定为袋装、瓶装、盒装和圆柱形四类包装，每类六个SKU，共二十四个基础商品。检测层只区分包装类型，识别层再区分具体SKU。最终部署一个YOLO和四个ResNet18，共五个ONNX模型。这个范围覆盖了课程目标，也避免把原型夸大成完整商用系统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D:/project/step1/week15/智能称重台demo/README.md</a:t>
            </a:r>
          </a:p>
          <a:p>
            <a:r>
              <a:t>- D:/project/step1/week15/智能称重台demo/MODEL_FREEZE.md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采用从左到右的四段式架构。YOLO先定位商品并判断包装类别，再把商品区域送入对应的ResNet18提取特征；随后与该组特征库进行相似度检索，通过阈值和差值拒绝未知商品；可信结果才会查询数据库，并在多帧稳定后进入购物车。简单说，YOLO负责“在哪里、属于哪一组”，ResNet和特征库负责“具体是谁”，数据库负责“多少钱”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D:/project/step1/week15/智能称重台demo/README.md</a:t>
            </a:r>
          </a:p>
          <a:p>
            <a:r>
              <a:t>- D:/project/step1/week15/智能称重台demo/smart_checkout_qt/inference_controller.py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集主要从实拍视频中按帧构建。我们控制抽帧间隔，并剔除模糊、重复度高和主体不完整的图像。验证集覆盖正放、横放、背面、手持和角度变化，用来检查模型是否学到稳定特征。构建过程保留逐帧清单，样本来源和划分都可以复核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D:/project/step1/week15/智能称重台demo/build_classification_dataset_from_videos.py</a:t>
            </a:r>
          </a:p>
          <a:p>
            <a:r>
              <a:t>- D:/project/step1/week15/智能称重台demo/work/classification_val_review/bottle_val_contact_sheet.jpg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检测模型使用YOLOv8n，在四类包装任务上已经稳定收敛。最终Precision为0.9946，Recall为0.9868，mAP50为0.9892，mAP50到95为0.7883，说明模型能在当前数据上稳定定位四类包装。但这些指标只代表课程数据集上的检测能力，不等同于真实商超长期运行的准确率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D:/project/step1/week15/智能称重台demo/runs/detect/smart_checkout_yolov8n/results.png</a:t>
            </a:r>
          </a:p>
          <a:p>
            <a:r>
              <a:t>- D:/project/step1/week15/智能称重台demo/runs/detect/smart_checkout_yolov8n/results.csv</a:t>
            </a:r>
          </a:p>
          <a:p>
            <a:r>
              <a:t>- D:/project/step1/week15/智能称重台demo/MODEL_FREEZE.md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细粒度识别没有使用一个二十四分类模型，而是按包装类型训练四个ResNet18。YOLO先把候选范围缩小到六个SKU，ResNet再学习组内差异。四个模型的验证集Top-1分别为百分之一百、百分之一百、百分之一百和百分之九十九点五九。这主要说明特征具有可分性，实际结算仍要加入开放集拒识，不能只看最高分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D:/project/step1/week15/智能称重台demo/train_resnet_classifier.py</a:t>
            </a:r>
          </a:p>
          <a:p>
            <a:r>
              <a:t>- D:/project/step1/week15/智能称重台demo/README.md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识别方案的关键。系统同时比较类中心和Top-K样本，要求最高相似度至少达到0.80，第一名与第二名的差值至少达到0.15。未注册商品也可能与某个已知类很像，但如果前两名接近，就说明证据不足，此时宁可拒绝计价。单帧结果还要经过二十五帧稳定窗口，用众数签名抑制遮挡、反光和瞬时抖动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D:/project/step1/week15/智能称重台demo/onnx_engine.py</a:t>
            </a:r>
          </a:p>
          <a:p>
            <a:r>
              <a:t>- D:/project/step1/week15/智能称重台demo/MODEL_FREEZE.md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为了独立部署，我们把一个YOLO和四个ResNet18全部导出为ONNX。导出后，ResNet特征余弦相似度为1.000000，检测框IoU为0.9932，说明转换前后基本一致。当前设备上，YOLO使用CUDA约为每帧7毫秒；没有GPU时，ONNX Runtime也会自动回退到CPU。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D:/project/step1/week15/智能称重台demo/export_onnx.py</a:t>
            </a:r>
          </a:p>
          <a:p>
            <a:r>
              <a:t>- D:/project/step1/week15/智能称重台demo/verify_onnx.py</a:t>
            </a:r>
          </a:p>
          <a:p>
            <a:r>
              <a:t>- D:/project/step1/week15/智能称重台demo/MODEL_FREEZE.md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Qt客户端中，界面和推理线程是分离的。摄像头画面交给后台QThread执行检测、特征检索和稳定计数，主界面只显示标注图、购物车、总价和FPS，因此模型运行时不会把界面卡死。每帧还会返回结构化结果，方便后续替换摄像头、数据库或结算接口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D:/project/step1/week15/智能称重台demo/smart_checkout_qt/widget.py</a:t>
            </a:r>
          </a:p>
          <a:p>
            <a:r>
              <a:t>- D:/project/step1/week15/智能称重台demo/smart_checkout_qt/inference_controller.py</a:t>
            </a:r>
          </a:p>
          <a:p>
            <a:r>
              <a:t>- D:/project/step1/week15/智能称重台demo/runs/pipeline/pipeline_demo_v2/preview/f1180.jpg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线注册是本项目的重要扩展。遇到新商品时，我们不重新训练ResNet，而是用现有特征模型从注册视频中提取多姿态特征。以阿萨姆奶茶为例，系统从六十六个采样帧中筛出五十二个有效样本，再聚合为四个代表性原型，并同步写入商品数据库和瓶装特征库。注册完成后，新商品就可以立即参与检索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D:/project/step1/week15/智能称重台demo/feature_library_updater.py</a:t>
            </a:r>
          </a:p>
          <a:p>
            <a:r>
              <a:t>- D:/project/step1/week15/智能称重台demo/register_from_video.py</a:t>
            </a:r>
          </a:p>
          <a:p>
            <a:r>
              <a:t>- D:/project/step1/week15/智能称重台demo/runs/registration/bottle07_20260828_final_verification.json</a:t>
            </a:r>
          </a:p>
          <a:p>
            <a:r>
              <a:t>- D:/project/step1/week15/智能称重台demo/runs/pipeline/asm_new_video_verify_v2/result.mp4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用同一段多商品视频做注册前后对照。注册前，阿萨姆不在特征库中，被判为未知商品；购物车稳定为七件，总价三十八元六角。注册后再次运行，原来的七件保持不变，同时新增一件三元的阿萨姆，变为八件、四十一元六角。这既证明新商品已经生效，也说明原有识别没有明显回归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D:/project/step1/week15/智能称重台demo/runs/pipeline/demo_stage1_unregistered/result.json</a:t>
            </a:r>
          </a:p>
          <a:p>
            <a:r>
              <a:t>- D:/project/step1/week15/智能称重台demo/runs/pipeline/demo_stage1_unregistered/result.mp4</a:t>
            </a:r>
          </a:p>
          <a:p>
            <a:r>
              <a:t>- D:/project/step1/week15/智能称重台demo/runs/pipeline/asm_registered_verify_v2/result.json</a:t>
            </a:r>
          </a:p>
          <a:p>
            <a:r>
              <a:t>- D:/project/step1/week15/智能称重台demo/runs/pipeline/asm_registered_verify_v2/result.mp4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了避免只依赖一段视频，我们又做了两组验证。多商品视频用于检查基础商品和购物车的整体回归；重新拍摄的阿萨姆视频用于检查不同角度下的泛化。新视频最终稳定为一件、三元，并在三百九十三个结算帧中有三百九十一个帧得到相同签名。结果全部保存为JSON，结论可以复查，不依赖现场的偶然一帧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D:/project/step1/week15/智能称重台demo/runs/pipeline/asm_registered_verify_v2/result.json</a:t>
            </a:r>
          </a:p>
          <a:p>
            <a:r>
              <a:t>- D:/project/step1/week15/智能称重台demo/runs/pipeline/asm_new_video_verify_v2/result.json</a:t>
            </a:r>
          </a:p>
          <a:p>
            <a:r>
              <a:t>- D:/project/step1/week15/智能称重台demo/runs/registration/bottle07_20260828_final_verification.json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验证覆盖四条链路：界面启动与交互、标注边界、ONNX推理，以及注册后的即时识别。自动化测试用于发现路径、模型、数据库和接口改动造成的回归。它能证明当前关键流程可以重复运行，但不能替代真实门店的长期压力测试、异常场景测试和商用认证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D:/project/step1/week15/智能称重台demo/smart_checkout_qt/smoke_test.py</a:t>
            </a:r>
          </a:p>
          <a:p>
            <a:r>
              <a:t>- D:/project/step1/week15/智能称重台demo/smart_checkout_qt/annotation_boundary_test.py</a:t>
            </a:r>
          </a:p>
          <a:p>
            <a:r>
              <a:t>- D:/project/step1/week15/智能称重台demo/smart_checkout_qt/engine_smoke_test.py</a:t>
            </a:r>
          </a:p>
          <a:p>
            <a:r>
              <a:t>- D:/project/step1/week15/智能称重台demo/smart_checkout_qt/registration_smoke_test.py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现过程中主要解决了三个问题。第一，相似商品容易混淆，所以采用包装分组和组内检索。第二，Softmax会强制分类未知商品，所以加入最高相似度、前两名差值和多帧稳定三层判断。第三，注册新商品可能影响旧类别，所以用注册前后同一视频做回归对照。方案因此从一次分类，变成了检索、拒识和验证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D:/project/step1/week15/智能称重台demo/项目总结.md</a:t>
            </a:r>
          </a:p>
          <a:p>
            <a:r>
              <a:t>- D:/project/step1/week15/智能称重台demo/MODEL_FREEZE.md</a:t>
            </a:r>
          </a:p>
          <a:p>
            <a:r>
              <a:t>- D:/project/step1/week15/智能称重台demo/runs/registration/bottle07_20260828_final_verification.json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说明与商用系统的差距。当前实际是包装商品视觉结算原型，还没有接入称重传感器、去皮稳重、按重量计价、支付订单、POS和ERP。后续可以用实例分割处理粘连和遮挡，结合OCR或条码确认相似包装，再接入PLU、称重硬件和门店系统。真正商用的核心也不只是更大的模型，而是数据闭环、风险控制、运维和业务接口共同组成的体系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D:/project/step1/week15/智能称重台demo/智能称重台项目计划书.md</a:t>
            </a:r>
          </a:p>
          <a:p>
            <a:r>
              <a:t>- D:/project/step1/week15/智能称重台demo/README.md</a:t>
            </a:r>
          </a:p>
          <a:p>
            <a:r>
              <a:t>- D:/project/step1/week15/智能称重台demo/项目总结.md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来说，本项目打通了从数据、训练、ONNX部署到Qt购物车的工程闭环；通过特征检索和开放集判断实现未知商品拒识；还完成了新商品视频注册，并用前后对照和独立视频进行验证。我的汇报到这里，下面进入系统演示，谢谢各位老师。</a:t>
            </a:r>
          </a:p>
          <a:p>
            <a:endParaRPr/>
          </a:p>
          <a:p>
            <a:r>
              <a:t>[Sources]</a:t>
            </a:r>
          </a:p>
          <a:p>
            <a:r>
              <a:t>- D:/project/step1/week15/智能称重台demo/README.md</a:t>
            </a:r>
          </a:p>
          <a:p>
            <a:r>
              <a:t>- D:/project/step1/week15/智能称重台demo/MODEL_FREEZE.md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A4C4E94-4325-4870-BC76-B9D69FF35D1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1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C8FF"/>
                </a:solidFill>
                <a:latin typeface="Microsoft YaHei"/>
                <a:ea typeface="Microsoft YaHei"/>
                <a:cs typeface="Microsoft YaHei"/>
              </a:rPr>
              <a:t>智能称重台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25DEF6-77D7-4699-9FB6-F9348F765DE7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334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4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基于目标检测与</a:t>
            </a:r>
          </a:p>
          <a:p>
            <a:pPr algn="l">
              <a:buNone/>
              <a:defRPr sz="4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深度特征检索的</a:t>
            </a:r>
          </a:p>
          <a:p>
            <a:pPr algn="l">
              <a:buNone/>
              <a:defRPr sz="4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智能商品结算原型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31452F-CAEF-4DF4-A22F-FE93B8ECAC73}"/>
              </a:ext>
            </a:extLst>
          </p:cNvPr>
          <p:cNvSpPr>
            <a:spLocks noGrp="1"/>
          </p:cNvSpPr>
          <p:nvPr/>
        </p:nvSpPr>
        <p:spPr>
          <a:xfrm>
            <a:off x="400050" y="464820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YOLOv8n · ResNet18 · ONNX Runtime · MySQL · PySide6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3748B4-61FB-43AB-9F82-EB66DF0A7766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课程项目答辩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0366DEC-D00B-4210-B699-9871E487CCC9}"/>
              </a:ext>
            </a:extLst>
          </p:cNvPr>
          <p:cNvSpPr>
            <a:spLocks noGrp="1"/>
          </p:cNvSpPr>
          <p:nvPr/>
        </p:nvSpPr>
        <p:spPr>
          <a:xfrm>
            <a:off x="6267450" y="400050"/>
            <a:ext cx="5524500" cy="5600700"/>
          </a:xfrm>
          <a:prstGeom prst="roundRect">
            <a:avLst>
              <a:gd name="adj" fmla="val 2069"/>
            </a:avLst>
          </a:prstGeom>
          <a:solidFill>
            <a:srgbClr val="0E2038"/>
          </a:solidFill>
          <a:ln w="19050">
            <a:solidFill>
              <a:srgbClr val="55C8FF"/>
            </a:solidFill>
            <a:prstDash val="solid"/>
          </a:ln>
        </p:spPr>
      </p:sp>
      <p:pic>
        <p:nvPicPr>
          <p:cNvPr id="15" name="图片 12"/>
          <p:cNvPicPr>
            <a:picLocks noChangeAspect="1"/>
          </p:cNvPicPr>
          <p:nvPr/>
        </p:nvPicPr>
        <p:blipFill>
          <a:blip r:embed="rId3"/>
          <a:srcRect l="22258" r="22258"/>
          <a:stretch>
            <a:fillRect/>
          </a:stretch>
        </p:blipFill>
        <p:spPr>
          <a:xfrm>
            <a:off x="6267450" y="400050"/>
            <a:ext cx="5524500" cy="5600700"/>
          </a:xfrm>
          <a:prstGeom prst="roundRect">
            <a:avLst>
              <a:gd name="adj" fmla="val 1379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BE518E1-D117-458A-A2AD-AD3C54BEBEA1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25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2-title">
            <a:extLst>
              <a:ext uri="{FF2B5EF4-FFF2-40B4-BE49-F238E27FC236}">
                <a16:creationId xmlns:a16="http://schemas.microsoft.com/office/drawing/2014/main" id="{7163EF6A-C2B1-4F5D-88B7-1CA6A96439F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把“看见商品”转化为可验证的结算结果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10D264-2EAD-403F-AC70-EB0CC7E145DA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52" name="直接箭头连接符 16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B16A787D-9444-4719-A4C9-4238F986B3BD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7334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传统流程依赖人工确认商品与价格；本项目尝试让摄像头自动完成检测、识别、查价和计数。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49940B-878A-41F5-BEF4-E361D63AE624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D7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260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7A0030-AD99-4CA8-97F9-817E87AEA878}"/>
              </a:ext>
            </a:extLst>
          </p:cNvPr>
          <p:cNvSpPr>
            <a:spLocks noGrp="1"/>
          </p:cNvSpPr>
          <p:nvPr/>
        </p:nvSpPr>
        <p:spPr>
          <a:xfrm>
            <a:off x="400050" y="3219450"/>
            <a:ext cx="31432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多件商品同时出现</a:t>
            </a:r>
          </a:p>
          <a:p>
            <a:pPr algn="l">
              <a:buNone/>
              <a:defRPr sz="18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包装姿态与反光变化</a:t>
            </a:r>
          </a:p>
          <a:p>
            <a:pPr algn="l">
              <a:buNone/>
              <a:defRPr sz="18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未注册商品不能误计价</a:t>
            </a:r>
          </a:p>
        </p:txBody>
      </p:sp>
      <p:cxnSp>
        <p:nvCxnSpPr>
          <p:cNvPr id="56" name="直接箭头连接符 20"/>
          <p:cNvCxnSpPr/>
          <p:nvPr/>
        </p:nvCxnSpPr>
        <p:spPr>
          <a:xfrm>
            <a:off x="3905250" y="2628900"/>
            <a:ext cx="9525" cy="95"/>
          </a:xfrm>
          <a:prstGeom prst="straightConnector1">
            <a:avLst/>
          </a:prstGeom>
          <a:ln w="9525">
            <a:noFill/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EF500051-2832-46E0-850B-68272CEF635E}"/>
              </a:ext>
            </a:extLst>
          </p:cNvPr>
          <p:cNvSpPr>
            <a:spLocks noGrp="1"/>
          </p:cNvSpPr>
          <p:nvPr/>
        </p:nvSpPr>
        <p:spPr>
          <a:xfrm>
            <a:off x="4400550" y="27051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解决思路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F08271-2047-4957-877D-89540B142FB8}"/>
              </a:ext>
            </a:extLst>
          </p:cNvPr>
          <p:cNvSpPr>
            <a:spLocks noGrp="1"/>
          </p:cNvSpPr>
          <p:nvPr/>
        </p:nvSpPr>
        <p:spPr>
          <a:xfrm>
            <a:off x="4400550" y="3219450"/>
            <a:ext cx="3619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先检测包装大类，再路由到对应特征模型；通过相似度与类别间隔拒绝未知商品。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49E8E6-8670-4FA9-AF6D-6A203B41BDA2}"/>
              </a:ext>
            </a:extLst>
          </p:cNvPr>
          <p:cNvSpPr>
            <a:spLocks noGrp="1"/>
          </p:cNvSpPr>
          <p:nvPr/>
        </p:nvSpPr>
        <p:spPr>
          <a:xfrm>
            <a:off x="8686800" y="1466850"/>
            <a:ext cx="31051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082422-1359-4082-8EE1-E12C5AAB93CE}"/>
              </a:ext>
            </a:extLst>
          </p:cNvPr>
          <p:cNvSpPr>
            <a:spLocks noGrp="1"/>
          </p:cNvSpPr>
          <p:nvPr/>
        </p:nvSpPr>
        <p:spPr>
          <a:xfrm>
            <a:off x="9010650" y="18669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2F1B5E-6211-458C-A11A-2229C20C4AE7}"/>
              </a:ext>
            </a:extLst>
          </p:cNvPr>
          <p:cNvSpPr>
            <a:spLocks noGrp="1"/>
          </p:cNvSpPr>
          <p:nvPr/>
        </p:nvSpPr>
        <p:spPr>
          <a:xfrm>
            <a:off x="9010650" y="22669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摄像头 / 视频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88ED61-2E8D-4E09-959A-45054289F895}"/>
              </a:ext>
            </a:extLst>
          </p:cNvPr>
          <p:cNvSpPr>
            <a:spLocks noGrp="1"/>
          </p:cNvSpPr>
          <p:nvPr/>
        </p:nvSpPr>
        <p:spPr>
          <a:xfrm>
            <a:off x="9010650" y="31813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5BCD6E-8EDD-428B-B605-8797DBECD00F}"/>
              </a:ext>
            </a:extLst>
          </p:cNvPr>
          <p:cNvSpPr>
            <a:spLocks noGrp="1"/>
          </p:cNvSpPr>
          <p:nvPr/>
        </p:nvSpPr>
        <p:spPr>
          <a:xfrm>
            <a:off x="9010650" y="3581400"/>
            <a:ext cx="23431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商品名称</a:t>
            </a:r>
          </a:p>
          <a:p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数量与金额</a:t>
            </a:r>
          </a:p>
          <a:p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未知商品告警</a:t>
            </a:r>
          </a:p>
        </p:txBody>
      </p:sp>
    </p:spTree>
    <p:extLst>
      <p:ext uri="{BB962C8B-B14F-4D97-AF65-F5344CB8AC3E}">
        <p14:creationId xmlns:p14="http://schemas.microsoft.com/office/powerpoint/2010/main" val="135593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3-title">
            <a:extLst>
              <a:ext uri="{FF2B5EF4-FFF2-40B4-BE49-F238E27FC236}">
                <a16:creationId xmlns:a16="http://schemas.microsoft.com/office/drawing/2014/main" id="{6D13D36A-5777-4636-AD38-9F44885130D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项目范围被明确限制在四类包装与24个SKU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7F030C-5440-4912-B817-43273F758E0A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37" name="直接箭头连接符 21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B6ABE8C1-9AE9-4270-B2FE-8FB2AE1F3871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以可复现、可演示、可验证为目标，完成从数据集到桌面端结算界面的闭环。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0CF935-48E2-4199-9862-D743A08A35DD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356235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77CC0F-381A-47F7-B76D-21444C32849F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66675" cy="3048000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A03BE4-AD02-4653-A910-22C91A753677}"/>
              </a:ext>
            </a:extLst>
          </p:cNvPr>
          <p:cNvSpPr>
            <a:spLocks noGrp="1"/>
          </p:cNvSpPr>
          <p:nvPr/>
        </p:nvSpPr>
        <p:spPr>
          <a:xfrm>
            <a:off x="647700" y="276225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BDB12C-8420-4DAC-9FF3-AB803D6E9B42}"/>
              </a:ext>
            </a:extLst>
          </p:cNvPr>
          <p:cNvSpPr>
            <a:spLocks noGrp="1"/>
          </p:cNvSpPr>
          <p:nvPr/>
        </p:nvSpPr>
        <p:spPr>
          <a:xfrm>
            <a:off x="647700" y="371475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包装大类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CE1DF6-3D8E-4622-BFF0-EAD917B4A237}"/>
              </a:ext>
            </a:extLst>
          </p:cNvPr>
          <p:cNvSpPr>
            <a:spLocks noGrp="1"/>
          </p:cNvSpPr>
          <p:nvPr/>
        </p:nvSpPr>
        <p:spPr>
          <a:xfrm>
            <a:off x="647700" y="4210050"/>
            <a:ext cx="3105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bag · bottle · box · cylinder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7DA6F3-8ECF-4AF0-89E9-5AE4ED97321D}"/>
              </a:ext>
            </a:extLst>
          </p:cNvPr>
          <p:cNvSpPr>
            <a:spLocks noGrp="1"/>
          </p:cNvSpPr>
          <p:nvPr/>
        </p:nvSpPr>
        <p:spPr>
          <a:xfrm>
            <a:off x="4314825" y="2476500"/>
            <a:ext cx="356235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94C957-75EE-4283-A51F-C7E8BF4E78DD}"/>
              </a:ext>
            </a:extLst>
          </p:cNvPr>
          <p:cNvSpPr>
            <a:spLocks noGrp="1"/>
          </p:cNvSpPr>
          <p:nvPr/>
        </p:nvSpPr>
        <p:spPr>
          <a:xfrm>
            <a:off x="4314825" y="2476500"/>
            <a:ext cx="66675" cy="3048000"/>
          </a:xfrm>
          <a:prstGeom prst="rect">
            <a:avLst/>
          </a:prstGeom>
          <a:solidFill>
            <a:srgbClr val="2D74F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8BF0C0-873D-41AE-AFF3-F6588C740740}"/>
              </a:ext>
            </a:extLst>
          </p:cNvPr>
          <p:cNvSpPr>
            <a:spLocks noGrp="1"/>
          </p:cNvSpPr>
          <p:nvPr/>
        </p:nvSpPr>
        <p:spPr>
          <a:xfrm>
            <a:off x="4562475" y="276225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459C6-A761-4374-A0F9-AE1E29BECE7D}"/>
              </a:ext>
            </a:extLst>
          </p:cNvPr>
          <p:cNvSpPr>
            <a:spLocks noGrp="1"/>
          </p:cNvSpPr>
          <p:nvPr/>
        </p:nvSpPr>
        <p:spPr>
          <a:xfrm>
            <a:off x="4562475" y="371475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注册SKU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4E5586-54F9-4745-BFCC-CD19C0701104}"/>
              </a:ext>
            </a:extLst>
          </p:cNvPr>
          <p:cNvSpPr>
            <a:spLocks noGrp="1"/>
          </p:cNvSpPr>
          <p:nvPr/>
        </p:nvSpPr>
        <p:spPr>
          <a:xfrm>
            <a:off x="4562475" y="4210050"/>
            <a:ext cx="3105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每个包装大类6种商品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3086C-1916-429A-A7E0-CBCB71C7D43E}"/>
              </a:ext>
            </a:extLst>
          </p:cNvPr>
          <p:cNvSpPr>
            <a:spLocks noGrp="1"/>
          </p:cNvSpPr>
          <p:nvPr/>
        </p:nvSpPr>
        <p:spPr>
          <a:xfrm>
            <a:off x="8229600" y="2476500"/>
            <a:ext cx="356235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6C3AD5-E021-4E92-B5DE-68A32F01D3B7}"/>
              </a:ext>
            </a:extLst>
          </p:cNvPr>
          <p:cNvSpPr>
            <a:spLocks noGrp="1"/>
          </p:cNvSpPr>
          <p:nvPr/>
        </p:nvSpPr>
        <p:spPr>
          <a:xfrm>
            <a:off x="8229600" y="2476500"/>
            <a:ext cx="66675" cy="3048000"/>
          </a:xfrm>
          <a:prstGeom prst="rect">
            <a:avLst/>
          </a:prstGeom>
          <a:solidFill>
            <a:srgbClr val="11B883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A7BCC8-F3D6-4C36-B6A5-155F79DF74D5}"/>
              </a:ext>
            </a:extLst>
          </p:cNvPr>
          <p:cNvSpPr>
            <a:spLocks noGrp="1"/>
          </p:cNvSpPr>
          <p:nvPr/>
        </p:nvSpPr>
        <p:spPr>
          <a:xfrm>
            <a:off x="8477250" y="276225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3EEE66-CD41-4CDC-A2F5-07BCD362274D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ONNX模型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048C41-32C3-41DC-86A3-7123ABBCE0EF}"/>
              </a:ext>
            </a:extLst>
          </p:cNvPr>
          <p:cNvSpPr>
            <a:spLocks noGrp="1"/>
          </p:cNvSpPr>
          <p:nvPr/>
        </p:nvSpPr>
        <p:spPr>
          <a:xfrm>
            <a:off x="8477250" y="4210050"/>
            <a:ext cx="3105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1个检测模型 + 4个特征模型</a:t>
            </a:r>
          </a:p>
        </p:txBody>
      </p:sp>
    </p:spTree>
    <p:extLst>
      <p:ext uri="{BB962C8B-B14F-4D97-AF65-F5344CB8AC3E}">
        <p14:creationId xmlns:p14="http://schemas.microsoft.com/office/powerpoint/2010/main" val="21903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-4-title">
            <a:extLst>
              <a:ext uri="{FF2B5EF4-FFF2-40B4-BE49-F238E27FC236}">
                <a16:creationId xmlns:a16="http://schemas.microsoft.com/office/drawing/2014/main" id="{D07F6722-6C0E-427C-A149-8EAAA92F732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系统采用“检测—检索—拒识—结算”四段式架构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B4CC2D-8AD8-43F7-9673-93E2E4E14278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87" name="直接箭头连接符 41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cxnSp>
        <p:nvCxnSpPr>
          <p:cNvPr id="88" name="直接箭头连接符 42"/>
          <p:cNvCxnSpPr/>
          <p:nvPr/>
        </p:nvCxnSpPr>
        <p:spPr>
          <a:xfrm>
            <a:off x="1600200" y="3324225"/>
            <a:ext cx="542925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cxnSp>
        <p:nvCxnSpPr>
          <p:cNvPr id="89" name="直接箭头连接符 43"/>
          <p:cNvCxnSpPr/>
          <p:nvPr/>
        </p:nvCxnSpPr>
        <p:spPr>
          <a:xfrm>
            <a:off x="3343275" y="3324225"/>
            <a:ext cx="542925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cxnSp>
        <p:nvCxnSpPr>
          <p:cNvPr id="90" name="直接箭头连接符 44"/>
          <p:cNvCxnSpPr/>
          <p:nvPr/>
        </p:nvCxnSpPr>
        <p:spPr>
          <a:xfrm>
            <a:off x="5086350" y="3324225"/>
            <a:ext cx="542925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cxnSp>
        <p:nvCxnSpPr>
          <p:cNvPr id="91" name="直接箭头连接符 45"/>
          <p:cNvCxnSpPr/>
          <p:nvPr/>
        </p:nvCxnSpPr>
        <p:spPr>
          <a:xfrm>
            <a:off x="6829425" y="3324225"/>
            <a:ext cx="542925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cxnSp>
        <p:nvCxnSpPr>
          <p:cNvPr id="92" name="直接箭头连接符 46"/>
          <p:cNvCxnSpPr/>
          <p:nvPr/>
        </p:nvCxnSpPr>
        <p:spPr>
          <a:xfrm>
            <a:off x="8572500" y="3324225"/>
            <a:ext cx="542925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cxnSp>
        <p:nvCxnSpPr>
          <p:cNvPr id="93" name="直接箭头连接符 47"/>
          <p:cNvCxnSpPr/>
          <p:nvPr/>
        </p:nvCxnSpPr>
        <p:spPr>
          <a:xfrm>
            <a:off x="10315575" y="3324225"/>
            <a:ext cx="542925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7355FE8-E988-44CA-87F3-FC0AB101DDE1}"/>
              </a:ext>
            </a:extLst>
          </p:cNvPr>
          <p:cNvSpPr>
            <a:spLocks noGrp="1"/>
          </p:cNvSpPr>
          <p:nvPr/>
        </p:nvSpPr>
        <p:spPr>
          <a:xfrm>
            <a:off x="400050" y="2800350"/>
            <a:ext cx="1200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48A2EB-2157-4D55-BF91-4F70EF987FA5}"/>
              </a:ext>
            </a:extLst>
          </p:cNvPr>
          <p:cNvSpPr>
            <a:spLocks noGrp="1"/>
          </p:cNvSpPr>
          <p:nvPr/>
        </p:nvSpPr>
        <p:spPr>
          <a:xfrm>
            <a:off x="533400" y="2914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953328-DD09-4547-9A8C-942BAE6BA728}"/>
              </a:ext>
            </a:extLst>
          </p:cNvPr>
          <p:cNvSpPr>
            <a:spLocks noGrp="1"/>
          </p:cNvSpPr>
          <p:nvPr/>
        </p:nvSpPr>
        <p:spPr>
          <a:xfrm>
            <a:off x="533400" y="320040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BFE228-AE34-43BA-927C-F26599E39879}"/>
              </a:ext>
            </a:extLst>
          </p:cNvPr>
          <p:cNvSpPr>
            <a:spLocks noGrp="1"/>
          </p:cNvSpPr>
          <p:nvPr/>
        </p:nvSpPr>
        <p:spPr>
          <a:xfrm>
            <a:off x="533400" y="3524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视频帧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7986EA-BA9A-4EE7-8267-5435132B774F}"/>
              </a:ext>
            </a:extLst>
          </p:cNvPr>
          <p:cNvSpPr>
            <a:spLocks noGrp="1"/>
          </p:cNvSpPr>
          <p:nvPr/>
        </p:nvSpPr>
        <p:spPr>
          <a:xfrm>
            <a:off x="2143125" y="2800350"/>
            <a:ext cx="1200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A43A84-899B-4E6E-83F6-8957C4F46111}"/>
              </a:ext>
            </a:extLst>
          </p:cNvPr>
          <p:cNvSpPr>
            <a:spLocks noGrp="1"/>
          </p:cNvSpPr>
          <p:nvPr/>
        </p:nvSpPr>
        <p:spPr>
          <a:xfrm>
            <a:off x="2276475" y="2914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29F649-A1FE-4D03-A472-C0A37A800CB0}"/>
              </a:ext>
            </a:extLst>
          </p:cNvPr>
          <p:cNvSpPr>
            <a:spLocks noGrp="1"/>
          </p:cNvSpPr>
          <p:nvPr/>
        </p:nvSpPr>
        <p:spPr>
          <a:xfrm>
            <a:off x="2276475" y="320040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YOLO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283421-9287-4E33-86CE-19F801148555}"/>
              </a:ext>
            </a:extLst>
          </p:cNvPr>
          <p:cNvSpPr>
            <a:spLocks noGrp="1"/>
          </p:cNvSpPr>
          <p:nvPr/>
        </p:nvSpPr>
        <p:spPr>
          <a:xfrm>
            <a:off x="2276475" y="3524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包装检测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283267-44F9-43C7-8536-43D985E56970}"/>
              </a:ext>
            </a:extLst>
          </p:cNvPr>
          <p:cNvSpPr>
            <a:spLocks noGrp="1"/>
          </p:cNvSpPr>
          <p:nvPr/>
        </p:nvSpPr>
        <p:spPr>
          <a:xfrm>
            <a:off x="3886200" y="2800350"/>
            <a:ext cx="1200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F4ADFD-3BF6-4271-B3DE-3C15650AB474}"/>
              </a:ext>
            </a:extLst>
          </p:cNvPr>
          <p:cNvSpPr>
            <a:spLocks noGrp="1"/>
          </p:cNvSpPr>
          <p:nvPr/>
        </p:nvSpPr>
        <p:spPr>
          <a:xfrm>
            <a:off x="4019550" y="2914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1C75BE-5C10-49E9-B560-1932D36AAF60}"/>
              </a:ext>
            </a:extLst>
          </p:cNvPr>
          <p:cNvSpPr>
            <a:spLocks noGrp="1"/>
          </p:cNvSpPr>
          <p:nvPr/>
        </p:nvSpPr>
        <p:spPr>
          <a:xfrm>
            <a:off x="4019550" y="320040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裁剪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568AE0-94FB-435E-B260-C5451D7D02A0}"/>
              </a:ext>
            </a:extLst>
          </p:cNvPr>
          <p:cNvSpPr>
            <a:spLocks noGrp="1"/>
          </p:cNvSpPr>
          <p:nvPr/>
        </p:nvSpPr>
        <p:spPr>
          <a:xfrm>
            <a:off x="4019550" y="3524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5% padding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FDE23C-465A-4E28-A276-2E7EDC4CC0D8}"/>
              </a:ext>
            </a:extLst>
          </p:cNvPr>
          <p:cNvSpPr>
            <a:spLocks noGrp="1"/>
          </p:cNvSpPr>
          <p:nvPr/>
        </p:nvSpPr>
        <p:spPr>
          <a:xfrm>
            <a:off x="5629275" y="2800350"/>
            <a:ext cx="1200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8290A4-ADF3-4A6F-869B-B584829CA4DB}"/>
              </a:ext>
            </a:extLst>
          </p:cNvPr>
          <p:cNvSpPr>
            <a:spLocks noGrp="1"/>
          </p:cNvSpPr>
          <p:nvPr/>
        </p:nvSpPr>
        <p:spPr>
          <a:xfrm>
            <a:off x="5762625" y="2914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D2BCE9-F9B7-45D3-B8D5-5E92D172AA3C}"/>
              </a:ext>
            </a:extLst>
          </p:cNvPr>
          <p:cNvSpPr>
            <a:spLocks noGrp="1"/>
          </p:cNvSpPr>
          <p:nvPr/>
        </p:nvSpPr>
        <p:spPr>
          <a:xfrm>
            <a:off x="5762625" y="320040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ResNet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2E2C95F-7478-4166-8EEF-F5B967C70F3D}"/>
              </a:ext>
            </a:extLst>
          </p:cNvPr>
          <p:cNvSpPr>
            <a:spLocks noGrp="1"/>
          </p:cNvSpPr>
          <p:nvPr/>
        </p:nvSpPr>
        <p:spPr>
          <a:xfrm>
            <a:off x="5762625" y="3524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512维特征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F30A4B-AB25-4F40-9EB1-3073CE61DD41}"/>
              </a:ext>
            </a:extLst>
          </p:cNvPr>
          <p:cNvSpPr>
            <a:spLocks noGrp="1"/>
          </p:cNvSpPr>
          <p:nvPr/>
        </p:nvSpPr>
        <p:spPr>
          <a:xfrm>
            <a:off x="7372350" y="2800350"/>
            <a:ext cx="1200150" cy="1066800"/>
          </a:xfrm>
          <a:prstGeom prst="rect">
            <a:avLst/>
          </a:prstGeom>
          <a:solidFill>
            <a:srgbClr val="DFEE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F62304-B2B1-49D2-9A40-3602E8B351B8}"/>
              </a:ext>
            </a:extLst>
          </p:cNvPr>
          <p:cNvSpPr>
            <a:spLocks noGrp="1"/>
          </p:cNvSpPr>
          <p:nvPr/>
        </p:nvSpPr>
        <p:spPr>
          <a:xfrm>
            <a:off x="7505700" y="2914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2350AA-79E2-44E4-8077-6B550C14C511}"/>
              </a:ext>
            </a:extLst>
          </p:cNvPr>
          <p:cNvSpPr>
            <a:spLocks noGrp="1"/>
          </p:cNvSpPr>
          <p:nvPr/>
        </p:nvSpPr>
        <p:spPr>
          <a:xfrm>
            <a:off x="7505700" y="320040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开放集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FB8551-1701-4FC6-94F8-21E961D2E378}"/>
              </a:ext>
            </a:extLst>
          </p:cNvPr>
          <p:cNvSpPr>
            <a:spLocks noGrp="1"/>
          </p:cNvSpPr>
          <p:nvPr/>
        </p:nvSpPr>
        <p:spPr>
          <a:xfrm>
            <a:off x="7505700" y="3524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相似度+间隔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7B1E505-7C46-4EBF-A6BB-948952339E05}"/>
              </a:ext>
            </a:extLst>
          </p:cNvPr>
          <p:cNvSpPr>
            <a:spLocks noGrp="1"/>
          </p:cNvSpPr>
          <p:nvPr/>
        </p:nvSpPr>
        <p:spPr>
          <a:xfrm>
            <a:off x="9115425" y="2800350"/>
            <a:ext cx="1200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6E049B-F3B6-4D0A-8943-733FF7F2929F}"/>
              </a:ext>
            </a:extLst>
          </p:cNvPr>
          <p:cNvSpPr>
            <a:spLocks noGrp="1"/>
          </p:cNvSpPr>
          <p:nvPr/>
        </p:nvSpPr>
        <p:spPr>
          <a:xfrm>
            <a:off x="9248775" y="2914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B74F36-057F-42B2-A0F4-E67F6826A18A}"/>
              </a:ext>
            </a:extLst>
          </p:cNvPr>
          <p:cNvSpPr>
            <a:spLocks noGrp="1"/>
          </p:cNvSpPr>
          <p:nvPr/>
        </p:nvSpPr>
        <p:spPr>
          <a:xfrm>
            <a:off x="9248775" y="320040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CCE9233-FB20-41D1-A5C1-780172E0787B}"/>
              </a:ext>
            </a:extLst>
          </p:cNvPr>
          <p:cNvSpPr>
            <a:spLocks noGrp="1"/>
          </p:cNvSpPr>
          <p:nvPr/>
        </p:nvSpPr>
        <p:spPr>
          <a:xfrm>
            <a:off x="9248775" y="3524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商品与价格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A39F1FF-73B4-4067-A581-24D8D3F9994A}"/>
              </a:ext>
            </a:extLst>
          </p:cNvPr>
          <p:cNvSpPr>
            <a:spLocks noGrp="1"/>
          </p:cNvSpPr>
          <p:nvPr/>
        </p:nvSpPr>
        <p:spPr>
          <a:xfrm>
            <a:off x="10858500" y="2800350"/>
            <a:ext cx="1200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260FB7-2F34-43E3-908B-B8D0CE3D76FD}"/>
              </a:ext>
            </a:extLst>
          </p:cNvPr>
          <p:cNvSpPr>
            <a:spLocks noGrp="1"/>
          </p:cNvSpPr>
          <p:nvPr/>
        </p:nvSpPr>
        <p:spPr>
          <a:xfrm>
            <a:off x="10991850" y="2914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F47E3C3-68FE-4750-AF03-E9F4AC657E83}"/>
              </a:ext>
            </a:extLst>
          </p:cNvPr>
          <p:cNvSpPr>
            <a:spLocks noGrp="1"/>
          </p:cNvSpPr>
          <p:nvPr/>
        </p:nvSpPr>
        <p:spPr>
          <a:xfrm>
            <a:off x="10991850" y="320040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Qt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22D1519-78AB-45F3-9D81-53F705B880E6}"/>
              </a:ext>
            </a:extLst>
          </p:cNvPr>
          <p:cNvSpPr>
            <a:spLocks noGrp="1"/>
          </p:cNvSpPr>
          <p:nvPr/>
        </p:nvSpPr>
        <p:spPr>
          <a:xfrm>
            <a:off x="10991850" y="3524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购物车结算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13592AD-8750-4133-8616-B99C39EC8607}"/>
              </a:ext>
            </a:extLst>
          </p:cNvPr>
          <p:cNvSpPr>
            <a:spLocks noGrp="1"/>
          </p:cNvSpPr>
          <p:nvPr/>
        </p:nvSpPr>
        <p:spPr>
          <a:xfrm>
            <a:off x="400050" y="46672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为什么不是单模型？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92D27F8-A4CD-4523-8B73-11671A9DC558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检测模型解决“在哪里、属于哪种包装”；特征检索解决“具体是哪一个SKU”；开放集判定解决“是否应该拒绝”。</a:t>
            </a:r>
          </a:p>
        </p:txBody>
      </p:sp>
    </p:spTree>
    <p:extLst>
      <p:ext uri="{BB962C8B-B14F-4D97-AF65-F5344CB8AC3E}">
        <p14:creationId xmlns:p14="http://schemas.microsoft.com/office/powerpoint/2010/main" val="203658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5-title">
            <a:extLst>
              <a:ext uri="{FF2B5EF4-FFF2-40B4-BE49-F238E27FC236}">
                <a16:creationId xmlns:a16="http://schemas.microsoft.com/office/drawing/2014/main" id="{B97EDD52-48FB-409C-9065-99AE9743B3B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数据集从视频中构建，并主动控制模糊与重复帧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DF908B-D426-468C-9383-935EBDD7DBE9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37" name="直接箭头连接符 16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7078ED0-80CA-4C1C-A813-3B734B48D59C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60960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pic>
        <p:nvPicPr>
          <p:cNvPr id="3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2052" y="1409700"/>
            <a:ext cx="4211996" cy="4476750"/>
          </a:xfrm>
          <a:prstGeom prst="roundRect">
            <a:avLst>
              <a:gd name="adj" fmla="val 1809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89874EF-6523-4F1A-94B4-71D879AAB993}"/>
              </a:ext>
            </a:extLst>
          </p:cNvPr>
          <p:cNvSpPr>
            <a:spLocks noGrp="1"/>
          </p:cNvSpPr>
          <p:nvPr/>
        </p:nvSpPr>
        <p:spPr>
          <a:xfrm>
            <a:off x="6934200" y="14287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28C4BB-E292-4D46-A507-26EE5CF06976}"/>
              </a:ext>
            </a:extLst>
          </p:cNvPr>
          <p:cNvSpPr>
            <a:spLocks noGrp="1"/>
          </p:cNvSpPr>
          <p:nvPr/>
        </p:nvSpPr>
        <p:spPr>
          <a:xfrm>
            <a:off x="6934200" y="1952625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按SKU录制视频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8352D0-26CC-4240-B324-219C4BF71149}"/>
              </a:ext>
            </a:extLst>
          </p:cNvPr>
          <p:cNvSpPr>
            <a:spLocks noGrp="1"/>
          </p:cNvSpPr>
          <p:nvPr/>
        </p:nvSpPr>
        <p:spPr>
          <a:xfrm>
            <a:off x="6934200" y="2476500"/>
            <a:ext cx="428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训练、验证视频按商品目录分开组织，减少同一视频帧跨集合泄漏。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2FF92E-C63B-41FE-A1F4-3DAAD5BAF148}"/>
              </a:ext>
            </a:extLst>
          </p:cNvPr>
          <p:cNvSpPr>
            <a:spLocks noGrp="1"/>
          </p:cNvSpPr>
          <p:nvPr/>
        </p:nvSpPr>
        <p:spPr>
          <a:xfrm>
            <a:off x="6934200" y="29908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C8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977ED1-D4FF-4916-B577-3BAD05A79AF3}"/>
              </a:ext>
            </a:extLst>
          </p:cNvPr>
          <p:cNvSpPr>
            <a:spLocks noGrp="1"/>
          </p:cNvSpPr>
          <p:nvPr/>
        </p:nvSpPr>
        <p:spPr>
          <a:xfrm>
            <a:off x="6934200" y="3514725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YOLO定位与跟踪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860311-6508-4EAE-8BE1-DD9837A041AA}"/>
              </a:ext>
            </a:extLst>
          </p:cNvPr>
          <p:cNvSpPr>
            <a:spLocks noGrp="1"/>
          </p:cNvSpPr>
          <p:nvPr/>
        </p:nvSpPr>
        <p:spPr>
          <a:xfrm>
            <a:off x="6934200" y="4038600"/>
            <a:ext cx="428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从视频帧中找到目标，扩展裁剪区域并保留不同方向与姿态。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C6DC31-AA49-48AA-B964-CDCD4BAAC909}"/>
              </a:ext>
            </a:extLst>
          </p:cNvPr>
          <p:cNvSpPr>
            <a:spLocks noGrp="1"/>
          </p:cNvSpPr>
          <p:nvPr/>
        </p:nvSpPr>
        <p:spPr>
          <a:xfrm>
            <a:off x="6934200" y="45529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3A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B8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DDCD70-BF2C-47BC-B141-CC9D6232EF14}"/>
              </a:ext>
            </a:extLst>
          </p:cNvPr>
          <p:cNvSpPr>
            <a:spLocks noGrp="1"/>
          </p:cNvSpPr>
          <p:nvPr/>
        </p:nvSpPr>
        <p:spPr>
          <a:xfrm>
            <a:off x="6934200" y="5076825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质量过滤与去重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DE939A-E618-4919-BA40-98206C0E57D0}"/>
              </a:ext>
            </a:extLst>
          </p:cNvPr>
          <p:cNvSpPr>
            <a:spLocks noGrp="1"/>
          </p:cNvSpPr>
          <p:nvPr/>
        </p:nvSpPr>
        <p:spPr>
          <a:xfrm>
            <a:off x="6934200" y="5600700"/>
            <a:ext cx="428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清晰度筛选、感知哈希去重和抽样上限共同抑制冗余。</a:t>
            </a:r>
          </a:p>
        </p:txBody>
      </p:sp>
    </p:spTree>
    <p:extLst>
      <p:ext uri="{BB962C8B-B14F-4D97-AF65-F5344CB8AC3E}">
        <p14:creationId xmlns:p14="http://schemas.microsoft.com/office/powerpoint/2010/main" val="1777300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6-title">
            <a:extLst>
              <a:ext uri="{FF2B5EF4-FFF2-40B4-BE49-F238E27FC236}">
                <a16:creationId xmlns:a16="http://schemas.microsoft.com/office/drawing/2014/main" id="{DA11E353-49EB-459B-B327-C43BB953E1F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YOLOv8n在四类包装检测上达到稳定收敛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822218-72F3-436E-BD58-2FEA3FE18849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cxnSp>
        <p:nvCxnSpPr>
          <p:cNvPr id="35" name="直接箭头连接符 14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F6C59C8-20A8-4E59-AF23-B0D97B284878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7239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pic>
        <p:nvPicPr>
          <p:cNvPr id="3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590675"/>
            <a:ext cx="7239000" cy="3619500"/>
          </a:xfrm>
          <a:prstGeom prst="roundRect">
            <a:avLst>
              <a:gd name="adj" fmla="val 2105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9B1034D-4B63-4822-9CD7-0AA26083AD43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0.9946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05D5EE-8E1B-41AC-908F-8FAF226BA3CD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E402FD-9E57-44D0-B765-E00609F4AA9E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0.9868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CFB634-FAB8-448C-B3AD-79505400D080}"/>
              </a:ext>
            </a:extLst>
          </p:cNvPr>
          <p:cNvSpPr>
            <a:spLocks noGrp="1"/>
          </p:cNvSpPr>
          <p:nvPr/>
        </p:nvSpPr>
        <p:spPr>
          <a:xfrm>
            <a:off x="8096250" y="36576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0E0064-32D9-460B-9C35-F67B052E8C9A}"/>
              </a:ext>
            </a:extLst>
          </p:cNvPr>
          <p:cNvSpPr>
            <a:spLocks noGrp="1"/>
          </p:cNvSpPr>
          <p:nvPr/>
        </p:nvSpPr>
        <p:spPr>
          <a:xfrm>
            <a:off x="8096250" y="44577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0.7883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3F583C-A103-4A21-887D-6C3E6EB3F14D}"/>
              </a:ext>
            </a:extLst>
          </p:cNvPr>
          <p:cNvSpPr>
            <a:spLocks noGrp="1"/>
          </p:cNvSpPr>
          <p:nvPr/>
        </p:nvSpPr>
        <p:spPr>
          <a:xfrm>
            <a:off x="8096250" y="51244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mAP50–95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043B46-B901-47E1-9C32-831ABD0AC4EB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训练100轮 · 输入640 · conf 0.25 · IoU 0.45</a:t>
            </a:r>
          </a:p>
        </p:txBody>
      </p:sp>
    </p:spTree>
    <p:extLst>
      <p:ext uri="{BB962C8B-B14F-4D97-AF65-F5344CB8AC3E}">
        <p14:creationId xmlns:p14="http://schemas.microsoft.com/office/powerpoint/2010/main" val="681335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7-title">
            <a:extLst>
              <a:ext uri="{FF2B5EF4-FFF2-40B4-BE49-F238E27FC236}">
                <a16:creationId xmlns:a16="http://schemas.microsoft.com/office/drawing/2014/main" id="{40095846-8ED3-4295-9FD7-ACA3136D737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四个ResNet18分别学习各包装组内的细粒度差异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D676AD-5E39-4AC2-A95F-94CB195C67DB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32" name="直接箭头连接符 11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graphicFrame>
        <p:nvGraphicFramePr>
          <p:cNvPr id="33" name="Chart"/>
          <p:cNvGraphicFramePr/>
          <p:nvPr/>
        </p:nvGraphicFramePr>
        <p:xfrm>
          <a:off x="400050" y="1504950"/>
          <a:ext cx="64770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CA4386A-8937-40C1-8AB1-4F3D44FB7A0B}"/>
              </a:ext>
            </a:extLst>
          </p:cNvPr>
          <p:cNvSpPr>
            <a:spLocks noGrp="1"/>
          </p:cNvSpPr>
          <p:nvPr/>
        </p:nvSpPr>
        <p:spPr>
          <a:xfrm>
            <a:off x="7543800" y="16002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为什么训练4个模型？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6C6FA4-8FDF-4FD1-9AB1-552F4C79E1F2}"/>
              </a:ext>
            </a:extLst>
          </p:cNvPr>
          <p:cNvSpPr>
            <a:spLocks noGrp="1"/>
          </p:cNvSpPr>
          <p:nvPr/>
        </p:nvSpPr>
        <p:spPr>
          <a:xfrm>
            <a:off x="7543800" y="2209800"/>
            <a:ext cx="381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YOLO先确定包装组，每个ResNet只需区分6个SKU。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EA2D60-9B81-4C42-B706-2423B6E61C82}"/>
              </a:ext>
            </a:extLst>
          </p:cNvPr>
          <p:cNvSpPr>
            <a:spLocks noGrp="1"/>
          </p:cNvSpPr>
          <p:nvPr/>
        </p:nvSpPr>
        <p:spPr>
          <a:xfrm>
            <a:off x="7543800" y="3238500"/>
            <a:ext cx="3810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输出不直接使用Softmax分类，而是移除fc层，得到512维L2归一化特征。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BC49D9-6684-43F1-8245-2F06773FD871}"/>
              </a:ext>
            </a:extLst>
          </p:cNvPr>
          <p:cNvSpPr>
            <a:spLocks noGrp="1"/>
          </p:cNvSpPr>
          <p:nvPr/>
        </p:nvSpPr>
        <p:spPr>
          <a:xfrm>
            <a:off x="7543800" y="4686300"/>
            <a:ext cx="3810000" cy="914400"/>
          </a:xfrm>
          <a:prstGeom prst="rect">
            <a:avLst/>
          </a:prstGeom>
          <a:solidFill>
            <a:srgbClr val="DFEE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61DAF0-A901-4428-AFDB-FF8FE04FB207}"/>
              </a:ext>
            </a:extLst>
          </p:cNvPr>
          <p:cNvSpPr>
            <a:spLocks noGrp="1"/>
          </p:cNvSpPr>
          <p:nvPr/>
        </p:nvSpPr>
        <p:spPr>
          <a:xfrm>
            <a:off x="7753350" y="497205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017"/>
          </a:bodyPr>
          <a:lstStyle/>
          <a:p>
            <a:pPr algn="l">
              <a:buNone/>
              <a:defRPr sz="1575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831"/>
                </a:solidFill>
                <a:latin typeface="Consolas"/>
                <a:ea typeface="Consolas"/>
                <a:cs typeface="Consolas"/>
              </a:rPr>
              <a:t>ResNet18 → fc = Identity → 512D</a:t>
            </a:r>
          </a:p>
        </p:txBody>
      </p:sp>
    </p:spTree>
    <p:extLst>
      <p:ext uri="{BB962C8B-B14F-4D97-AF65-F5344CB8AC3E}">
        <p14:creationId xmlns:p14="http://schemas.microsoft.com/office/powerpoint/2010/main" val="1015199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8-title">
            <a:extLst>
              <a:ext uri="{FF2B5EF4-FFF2-40B4-BE49-F238E27FC236}">
                <a16:creationId xmlns:a16="http://schemas.microsoft.com/office/drawing/2014/main" id="{84A6411E-4FD6-4396-8A9E-41CB98CAF1D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类中心与Top-K样本联合检索，避免只看一次Softmax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7A8EC0-D830-49F3-9990-4A36E99D65F7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cxnSp>
        <p:nvCxnSpPr>
          <p:cNvPr id="40" name="直接箭头连接符 24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294463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3FFB8B5-CB6B-4159-AE1B-B0676D02307C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7334250" cy="173355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C82662-7816-4F3C-9661-CE51BFFD81A0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score(class) = 0.7 × center_similarity</a:t>
            </a:r>
          </a:p>
          <a:p>
            <a:pPr algn="l">
              <a:buNone/>
              <a:defRPr sz="195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+ 0.3 × mean(top5_similarity)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6DBE79-4AC1-4710-80DE-E72F52D1D37B}"/>
              </a:ext>
            </a:extLst>
          </p:cNvPr>
          <p:cNvSpPr>
            <a:spLocks noGrp="1"/>
          </p:cNvSpPr>
          <p:nvPr/>
        </p:nvSpPr>
        <p:spPr>
          <a:xfrm>
            <a:off x="400050" y="37338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开放集判定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6B2B2D-AC3F-4691-9F4E-110AACC7A27A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2667000" cy="224790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FB46DA-8740-4733-97B7-EB3D251F2CFD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66675" cy="2247900"/>
          </a:xfrm>
          <a:prstGeom prst="rect">
            <a:avLst/>
          </a:prstGeom>
          <a:solidFill>
            <a:srgbClr val="2D74FF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8F72E7-C8CC-41AD-A7A9-30AF3C0A6247}"/>
              </a:ext>
            </a:extLst>
          </p:cNvPr>
          <p:cNvSpPr>
            <a:spLocks noGrp="1"/>
          </p:cNvSpPr>
          <p:nvPr/>
        </p:nvSpPr>
        <p:spPr>
          <a:xfrm>
            <a:off x="3105150" y="3810000"/>
            <a:ext cx="2209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≥ 0.80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5BCC62-3F21-4E82-A88B-23F86621409F}"/>
              </a:ext>
            </a:extLst>
          </p:cNvPr>
          <p:cNvSpPr>
            <a:spLocks noGrp="1"/>
          </p:cNvSpPr>
          <p:nvPr/>
        </p:nvSpPr>
        <p:spPr>
          <a:xfrm>
            <a:off x="3105150" y="4762500"/>
            <a:ext cx="2209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Top-1相似度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ECE35B-77F5-4DAC-A6F6-E18B0E9CFEC7}"/>
              </a:ext>
            </a:extLst>
          </p:cNvPr>
          <p:cNvSpPr>
            <a:spLocks noGrp="1"/>
          </p:cNvSpPr>
          <p:nvPr/>
        </p:nvSpPr>
        <p:spPr>
          <a:xfrm>
            <a:off x="3105150" y="52578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544"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候选必须足够接近已注册商品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408A72-077F-4C1A-AADA-1068106FE224}"/>
              </a:ext>
            </a:extLst>
          </p:cNvPr>
          <p:cNvSpPr>
            <a:spLocks noGrp="1"/>
          </p:cNvSpPr>
          <p:nvPr/>
        </p:nvSpPr>
        <p:spPr>
          <a:xfrm>
            <a:off x="5791200" y="3524250"/>
            <a:ext cx="2667000" cy="224790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A7ECF7-DA99-4823-B0C3-E7A5E45E96FA}"/>
              </a:ext>
            </a:extLst>
          </p:cNvPr>
          <p:cNvSpPr>
            <a:spLocks noGrp="1"/>
          </p:cNvSpPr>
          <p:nvPr/>
        </p:nvSpPr>
        <p:spPr>
          <a:xfrm>
            <a:off x="5791200" y="3524250"/>
            <a:ext cx="66675" cy="2247900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94B59E-D43B-435B-A532-97A30FAFD5E6}"/>
              </a:ext>
            </a:extLst>
          </p:cNvPr>
          <p:cNvSpPr>
            <a:spLocks noGrp="1"/>
          </p:cNvSpPr>
          <p:nvPr/>
        </p:nvSpPr>
        <p:spPr>
          <a:xfrm>
            <a:off x="6038850" y="3810000"/>
            <a:ext cx="2209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≥ 0.15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985209-6F42-4AD3-A095-7F94873BCA79}"/>
              </a:ext>
            </a:extLst>
          </p:cNvPr>
          <p:cNvSpPr>
            <a:spLocks noGrp="1"/>
          </p:cNvSpPr>
          <p:nvPr/>
        </p:nvSpPr>
        <p:spPr>
          <a:xfrm>
            <a:off x="6038850" y="4762500"/>
            <a:ext cx="2209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Top1–Top2间隔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D6D058-305C-4822-A90B-BABC43ABB43B}"/>
              </a:ext>
            </a:extLst>
          </p:cNvPr>
          <p:cNvSpPr>
            <a:spLocks noGrp="1"/>
          </p:cNvSpPr>
          <p:nvPr/>
        </p:nvSpPr>
        <p:spPr>
          <a:xfrm>
            <a:off x="6038850" y="52578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避免“跟多个商品都像”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494219-4A84-4115-944F-8553446E335B}"/>
              </a:ext>
            </a:extLst>
          </p:cNvPr>
          <p:cNvSpPr>
            <a:spLocks noGrp="1"/>
          </p:cNvSpPr>
          <p:nvPr/>
        </p:nvSpPr>
        <p:spPr>
          <a:xfrm>
            <a:off x="8724900" y="3524250"/>
            <a:ext cx="2667000" cy="224790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3BF7EB-8508-4C89-BC13-394F0614679A}"/>
              </a:ext>
            </a:extLst>
          </p:cNvPr>
          <p:cNvSpPr>
            <a:spLocks noGrp="1"/>
          </p:cNvSpPr>
          <p:nvPr/>
        </p:nvSpPr>
        <p:spPr>
          <a:xfrm>
            <a:off x="8724900" y="3524250"/>
            <a:ext cx="66675" cy="2247900"/>
          </a:xfrm>
          <a:prstGeom prst="rect">
            <a:avLst/>
          </a:prstGeom>
          <a:solidFill>
            <a:srgbClr val="11B883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C12596-EE1E-4D03-8841-BBB0E10066FF}"/>
              </a:ext>
            </a:extLst>
          </p:cNvPr>
          <p:cNvSpPr>
            <a:spLocks noGrp="1"/>
          </p:cNvSpPr>
          <p:nvPr/>
        </p:nvSpPr>
        <p:spPr>
          <a:xfrm>
            <a:off x="8972550" y="3810000"/>
            <a:ext cx="2209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25帧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F7F11C-183D-4BD5-BB20-93B7D2D4B447}"/>
              </a:ext>
            </a:extLst>
          </p:cNvPr>
          <p:cNvSpPr>
            <a:spLocks noGrp="1"/>
          </p:cNvSpPr>
          <p:nvPr/>
        </p:nvSpPr>
        <p:spPr>
          <a:xfrm>
            <a:off x="8972550" y="4762500"/>
            <a:ext cx="2209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稳定窗口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9A6343-B7CD-4E60-BF1E-2CDEBD80EBE3}"/>
              </a:ext>
            </a:extLst>
          </p:cNvPr>
          <p:cNvSpPr>
            <a:spLocks noGrp="1"/>
          </p:cNvSpPr>
          <p:nvPr/>
        </p:nvSpPr>
        <p:spPr>
          <a:xfrm>
            <a:off x="8972550" y="52578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544"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用最常见商品组合生成购物车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47005C-918C-4D2C-A83E-069C10F12209}"/>
              </a:ext>
            </a:extLst>
          </p:cNvPr>
          <p:cNvSpPr>
            <a:spLocks noGrp="1"/>
          </p:cNvSpPr>
          <p:nvPr/>
        </p:nvSpPr>
        <p:spPr>
          <a:xfrm>
            <a:off x="8229600" y="1562100"/>
            <a:ext cx="31623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D7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7480"/>
                </a:solidFill>
                <a:latin typeface="Microsoft YaHei"/>
                <a:ea typeface="Microsoft YaHei"/>
                <a:cs typeface="Microsoft YaHei"/>
              </a:rPr>
              <a:t>两个条件任一不满足 → 标记未注册，不进入购物车</a:t>
            </a:r>
          </a:p>
        </p:txBody>
      </p:sp>
    </p:spTree>
    <p:extLst>
      <p:ext uri="{BB962C8B-B14F-4D97-AF65-F5344CB8AC3E}">
        <p14:creationId xmlns:p14="http://schemas.microsoft.com/office/powerpoint/2010/main" val="1925037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9-title">
            <a:extLst>
              <a:ext uri="{FF2B5EF4-FFF2-40B4-BE49-F238E27FC236}">
                <a16:creationId xmlns:a16="http://schemas.microsoft.com/office/drawing/2014/main" id="{908834E6-F8BE-4C63-B9B7-FE4CFCF440E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五个模型统一部署为ONNX，并优先使用CUDA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951D90-90DC-4B99-8DF1-539D7859579A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cxnSp>
        <p:nvCxnSpPr>
          <p:cNvPr id="61" name="直接箭头连接符 30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cxnSp>
        <p:nvCxnSpPr>
          <p:cNvPr id="62" name="直接箭头连接符 31"/>
          <p:cNvCxnSpPr/>
          <p:nvPr/>
        </p:nvCxnSpPr>
        <p:spPr>
          <a:xfrm>
            <a:off x="1905000" y="3314700"/>
            <a:ext cx="1619250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cxnSp>
        <p:nvCxnSpPr>
          <p:cNvPr id="63" name="直接箭头连接符 32"/>
          <p:cNvCxnSpPr/>
          <p:nvPr/>
        </p:nvCxnSpPr>
        <p:spPr>
          <a:xfrm>
            <a:off x="5238750" y="3314700"/>
            <a:ext cx="1619250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cxnSp>
        <p:nvCxnSpPr>
          <p:cNvPr id="64" name="直接箭头连接符 33"/>
          <p:cNvCxnSpPr/>
          <p:nvPr/>
        </p:nvCxnSpPr>
        <p:spPr>
          <a:xfrm>
            <a:off x="8572500" y="3314700"/>
            <a:ext cx="1619250" cy="95"/>
          </a:xfrm>
          <a:prstGeom prst="straightConnector1">
            <a:avLst/>
          </a:prstGeom>
          <a:ln w="28575">
            <a:solidFill>
              <a:srgbClr val="2D74FF"/>
            </a:solidFill>
            <a:prstDash val="soli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D1F47A6-39CB-4E10-94F2-224526A21FF9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17BA4C-5967-4E12-819A-66E300F55534}"/>
              </a:ext>
            </a:extLst>
          </p:cNvPr>
          <p:cNvSpPr>
            <a:spLocks noGrp="1"/>
          </p:cNvSpPr>
          <p:nvPr/>
        </p:nvSpPr>
        <p:spPr>
          <a:xfrm>
            <a:off x="400050" y="2609850"/>
            <a:ext cx="1790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67EC97-31C7-464B-A3FE-5F87E81D76C3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PT模型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F71B6F-C279-4C7D-9D2E-38DDE95B0EA0}"/>
              </a:ext>
            </a:extLst>
          </p:cNvPr>
          <p:cNvSpPr>
            <a:spLocks noGrp="1"/>
          </p:cNvSpPr>
          <p:nvPr/>
        </p:nvSpPr>
        <p:spPr>
          <a:xfrm>
            <a:off x="571500" y="33528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YOLO + 4个ResNet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01C320-F6F3-4E99-98D6-D3940347D516}"/>
              </a:ext>
            </a:extLst>
          </p:cNvPr>
          <p:cNvSpPr>
            <a:spLocks noGrp="1"/>
          </p:cNvSpPr>
          <p:nvPr/>
        </p:nvSpPr>
        <p:spPr>
          <a:xfrm>
            <a:off x="3733800" y="20383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260026-5C2F-46C4-B7B5-05D988B87B19}"/>
              </a:ext>
            </a:extLst>
          </p:cNvPr>
          <p:cNvSpPr>
            <a:spLocks noGrp="1"/>
          </p:cNvSpPr>
          <p:nvPr/>
        </p:nvSpPr>
        <p:spPr>
          <a:xfrm>
            <a:off x="3733800" y="2609850"/>
            <a:ext cx="1790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46DF5E-8081-4942-AB1B-EB06106F5356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导出ONNX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9B8779-46BC-4083-8980-6158B2C058D9}"/>
              </a:ext>
            </a:extLst>
          </p:cNvPr>
          <p:cNvSpPr>
            <a:spLocks noGrp="1"/>
          </p:cNvSpPr>
          <p:nvPr/>
        </p:nvSpPr>
        <p:spPr>
          <a:xfrm>
            <a:off x="3905250" y="33528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固定输入与预处理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4BC31A-13AA-44A1-9150-33B6D97201ED}"/>
              </a:ext>
            </a:extLst>
          </p:cNvPr>
          <p:cNvSpPr>
            <a:spLocks noGrp="1"/>
          </p:cNvSpPr>
          <p:nvPr/>
        </p:nvSpPr>
        <p:spPr>
          <a:xfrm>
            <a:off x="7067550" y="20383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2AD594-41A4-4EAE-8F5B-08B976E088DB}"/>
              </a:ext>
            </a:extLst>
          </p:cNvPr>
          <p:cNvSpPr>
            <a:spLocks noGrp="1"/>
          </p:cNvSpPr>
          <p:nvPr/>
        </p:nvSpPr>
        <p:spPr>
          <a:xfrm>
            <a:off x="7067550" y="2609850"/>
            <a:ext cx="1790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DF159E-297E-474F-B214-CC9784D5C983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一致性验证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D7BFB6-43FF-40E5-8ED6-6D5ADDDBBB83}"/>
              </a:ext>
            </a:extLst>
          </p:cNvPr>
          <p:cNvSpPr>
            <a:spLocks noGrp="1"/>
          </p:cNvSpPr>
          <p:nvPr/>
        </p:nvSpPr>
        <p:spPr>
          <a:xfrm>
            <a:off x="7239000" y="33528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特征余弦</a:t>
            </a:r>
          </a:p>
          <a:p>
            <a:pPr algn="l">
              <a:buNone/>
              <a:def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框级IoU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862AF7-7E80-4208-8F47-7040BE0D58F5}"/>
              </a:ext>
            </a:extLst>
          </p:cNvPr>
          <p:cNvSpPr>
            <a:spLocks noGrp="1"/>
          </p:cNvSpPr>
          <p:nvPr/>
        </p:nvSpPr>
        <p:spPr>
          <a:xfrm>
            <a:off x="10401300" y="20383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2CEB08-921A-4CA8-8363-DB0C4C3BD47C}"/>
              </a:ext>
            </a:extLst>
          </p:cNvPr>
          <p:cNvSpPr>
            <a:spLocks noGrp="1"/>
          </p:cNvSpPr>
          <p:nvPr/>
        </p:nvSpPr>
        <p:spPr>
          <a:xfrm>
            <a:off x="10401300" y="2609850"/>
            <a:ext cx="1790700" cy="1428750"/>
          </a:xfrm>
          <a:prstGeom prst="rect">
            <a:avLst/>
          </a:prstGeom>
          <a:solidFill>
            <a:srgbClr val="DFEE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A32898-5670-4562-BD76-FE584B688CF3}"/>
              </a:ext>
            </a:extLst>
          </p:cNvPr>
          <p:cNvSpPr>
            <a:spLocks noGrp="1"/>
          </p:cNvSpPr>
          <p:nvPr/>
        </p:nvSpPr>
        <p:spPr>
          <a:xfrm>
            <a:off x="10572750" y="28575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端侧运行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4D8DAA-48F9-4A12-9529-1A4E7C0E669E}"/>
              </a:ext>
            </a:extLst>
          </p:cNvPr>
          <p:cNvSpPr>
            <a:spLocks noGrp="1"/>
          </p:cNvSpPr>
          <p:nvPr/>
        </p:nvSpPr>
        <p:spPr>
          <a:xfrm>
            <a:off x="10572750" y="33528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CUDA优先，CPU回退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F660FC4-704B-4263-AF4B-C0216550C1FB}"/>
              </a:ext>
            </a:extLst>
          </p:cNvPr>
          <p:cNvSpPr>
            <a:spLocks noGrp="1"/>
          </p:cNvSpPr>
          <p:nvPr/>
        </p:nvSpPr>
        <p:spPr>
          <a:xfrm>
            <a:off x="2343150" y="485775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1.000000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7BBC88-22BB-415E-9206-5C09531586F4}"/>
              </a:ext>
            </a:extLst>
          </p:cNvPr>
          <p:cNvSpPr>
            <a:spLocks noGrp="1"/>
          </p:cNvSpPr>
          <p:nvPr/>
        </p:nvSpPr>
        <p:spPr>
          <a:xfrm>
            <a:off x="2343150" y="54673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PT与ONNX特征余弦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9F57B8-EDE6-432F-BB1B-9DD4AF14CAA0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0.9932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979DE3-526F-42DE-8023-D13172FC8238}"/>
              </a:ext>
            </a:extLst>
          </p:cNvPr>
          <p:cNvSpPr>
            <a:spLocks noGrp="1"/>
          </p:cNvSpPr>
          <p:nvPr/>
        </p:nvSpPr>
        <p:spPr>
          <a:xfrm>
            <a:off x="6477000" y="5467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检测框IoU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987C80-D81C-484C-B4F6-15166AA8D85A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2850" b="1">
                <a:solidFill>
                  <a:srgbClr val="13A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B883"/>
                </a:solidFill>
                <a:latin typeface="Microsoft YaHei"/>
                <a:ea typeface="Microsoft YaHei"/>
                <a:cs typeface="Microsoft YaHei"/>
              </a:rPr>
              <a:t>约7 ms/帧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4D7A84-918B-443B-8FC8-9949075CDF6A}"/>
              </a:ext>
            </a:extLst>
          </p:cNvPr>
          <p:cNvSpPr>
            <a:spLocks noGrp="1"/>
          </p:cNvSpPr>
          <p:nvPr/>
        </p:nvSpPr>
        <p:spPr>
          <a:xfrm>
            <a:off x="9620250" y="54673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YOLO CUDA推理</a:t>
            </a:r>
          </a:p>
        </p:txBody>
      </p:sp>
    </p:spTree>
    <p:extLst>
      <p:ext uri="{BB962C8B-B14F-4D97-AF65-F5344CB8AC3E}">
        <p14:creationId xmlns:p14="http://schemas.microsoft.com/office/powerpoint/2010/main" val="15802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10-title">
            <a:extLst>
              <a:ext uri="{FF2B5EF4-FFF2-40B4-BE49-F238E27FC236}">
                <a16:creationId xmlns:a16="http://schemas.microsoft.com/office/drawing/2014/main" id="{902225EB-F4B0-4459-9255-BDED6283EF0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Qt端把识别结果组织成购物车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8E582B-89CC-43CA-9707-77C9AD3815BF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cxnSp>
        <p:nvCxnSpPr>
          <p:cNvPr id="32" name="直接箭头连接符 11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8BF5A56-7BEF-4ED4-8796-D8FB85495899}"/>
              </a:ext>
            </a:extLst>
          </p:cNvPr>
          <p:cNvSpPr>
            <a:spLocks noGrp="1"/>
          </p:cNvSpPr>
          <p:nvPr/>
        </p:nvSpPr>
        <p:spPr>
          <a:xfrm>
            <a:off x="400050" y="137160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pic>
        <p:nvPicPr>
          <p:cNvPr id="34" name="图片 13"/>
          <p:cNvPicPr>
            <a:picLocks noChangeAspect="1"/>
          </p:cNvPicPr>
          <p:nvPr/>
        </p:nvPicPr>
        <p:blipFill>
          <a:blip r:embed="rId3"/>
          <a:srcRect l="2907" r="2907"/>
          <a:stretch>
            <a:fillRect/>
          </a:stretch>
        </p:blipFill>
        <p:spPr>
          <a:xfrm>
            <a:off x="400050" y="1371600"/>
            <a:ext cx="6858000" cy="4095750"/>
          </a:xfrm>
          <a:prstGeom prst="roundRect">
            <a:avLst>
              <a:gd name="adj" fmla="val 1860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1141DF-D96C-4905-B0CF-27D99C76DA02}"/>
              </a:ext>
            </a:extLst>
          </p:cNvPr>
          <p:cNvSpPr>
            <a:spLocks noGrp="1"/>
          </p:cNvSpPr>
          <p:nvPr/>
        </p:nvSpPr>
        <p:spPr>
          <a:xfrm>
            <a:off x="7810500" y="15049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后台线程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03CC21-5330-40E9-B667-CADCA369AC44}"/>
              </a:ext>
            </a:extLst>
          </p:cNvPr>
          <p:cNvSpPr>
            <a:spLocks noGrp="1"/>
          </p:cNvSpPr>
          <p:nvPr/>
        </p:nvSpPr>
        <p:spPr>
          <a:xfrm>
            <a:off x="7810500" y="2019300"/>
            <a:ext cx="3619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QThread持续读取视频与执行ONNX推理，界面线程只负责交互和渲染。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AB044D-D419-414F-A0C7-B4A81FDE619F}"/>
              </a:ext>
            </a:extLst>
          </p:cNvPr>
          <p:cNvSpPr>
            <a:spLocks noGrp="1"/>
          </p:cNvSpPr>
          <p:nvPr/>
        </p:nvSpPr>
        <p:spPr>
          <a:xfrm>
            <a:off x="7810500" y="32766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交互能力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9CFDD9-117A-4EB2-9F6E-6EEDCC22D880}"/>
              </a:ext>
            </a:extLst>
          </p:cNvPr>
          <p:cNvSpPr>
            <a:spLocks noGrp="1"/>
          </p:cNvSpPr>
          <p:nvPr/>
        </p:nvSpPr>
        <p:spPr>
          <a:xfrm>
            <a:off x="7810500" y="3790950"/>
            <a:ext cx="36195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摄像头 / 本地视频</a:t>
            </a:r>
          </a:p>
          <a:p>
            <a:pPr algn="l">
              <a:buNone/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暂停、停止与重置</a:t>
            </a:r>
          </a:p>
          <a:p>
            <a:pPr algn="l">
              <a:buNone/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购物车与金额展示</a:t>
            </a:r>
          </a:p>
          <a:p>
            <a:pPr algn="l">
              <a:buNone/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未知商品告警与注册入口</a:t>
            </a:r>
          </a:p>
        </p:txBody>
      </p:sp>
    </p:spTree>
    <p:extLst>
      <p:ext uri="{BB962C8B-B14F-4D97-AF65-F5344CB8AC3E}">
        <p14:creationId xmlns:p14="http://schemas.microsoft.com/office/powerpoint/2010/main" val="140050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11-title">
            <a:extLst>
              <a:ext uri="{FF2B5EF4-FFF2-40B4-BE49-F238E27FC236}">
                <a16:creationId xmlns:a16="http://schemas.microsoft.com/office/drawing/2014/main" id="{4E5C486A-88F1-49FB-9662-9AAFD61D4AE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未注册商品可以通过视频建立多姿态原型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5C10F4-0AD2-4073-951A-A32C4A4E9702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40" name="直接箭头连接符 19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83E7894-0D62-4BA1-B2EB-3F19EBD07B92}"/>
              </a:ext>
            </a:extLst>
          </p:cNvPr>
          <p:cNvSpPr>
            <a:spLocks noGrp="1"/>
          </p:cNvSpPr>
          <p:nvPr/>
        </p:nvSpPr>
        <p:spPr>
          <a:xfrm>
            <a:off x="400050" y="1371600"/>
            <a:ext cx="4095750" cy="476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F2"/>
            </a:solidFill>
            <a:prstDash val="solid"/>
          </a:ln>
        </p:spPr>
      </p:sp>
      <p:pic>
        <p:nvPicPr>
          <p:cNvPr id="42" name="图片 21"/>
          <p:cNvPicPr>
            <a:picLocks noChangeAspect="1"/>
          </p:cNvPicPr>
          <p:nvPr/>
        </p:nvPicPr>
        <p:blipFill>
          <a:blip r:embed="rId3"/>
          <a:srcRect t="17297" b="17297"/>
          <a:stretch>
            <a:fillRect/>
          </a:stretch>
        </p:blipFill>
        <p:spPr>
          <a:xfrm>
            <a:off x="400050" y="1371600"/>
            <a:ext cx="4095750" cy="4762500"/>
          </a:xfrm>
          <a:prstGeom prst="roundRect">
            <a:avLst>
              <a:gd name="adj" fmla="val 1860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33705B2-F97D-4D1E-8CD9-524B62539F52}"/>
              </a:ext>
            </a:extLst>
          </p:cNvPr>
          <p:cNvSpPr>
            <a:spLocks noGrp="1"/>
          </p:cNvSpPr>
          <p:nvPr/>
        </p:nvSpPr>
        <p:spPr>
          <a:xfrm>
            <a:off x="5048250" y="14097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484627-FF67-488F-81FB-EB984ED6514A}"/>
              </a:ext>
            </a:extLst>
          </p:cNvPr>
          <p:cNvSpPr>
            <a:spLocks noGrp="1"/>
          </p:cNvSpPr>
          <p:nvPr/>
        </p:nvSpPr>
        <p:spPr>
          <a:xfrm>
            <a:off x="5048250" y="193357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0D0ABD-D08A-4781-B942-F7B028B03E24}"/>
              </a:ext>
            </a:extLst>
          </p:cNvPr>
          <p:cNvSpPr>
            <a:spLocks noGrp="1"/>
          </p:cNvSpPr>
          <p:nvPr/>
        </p:nvSpPr>
        <p:spPr>
          <a:xfrm>
            <a:off x="5048250" y="2457450"/>
            <a:ext cx="285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从补充视频跨时间均匀采样66帧，而不是连续截取相邻画面。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7A8E20-311C-476F-925B-FB7EE51EE4C0}"/>
              </a:ext>
            </a:extLst>
          </p:cNvPr>
          <p:cNvSpPr>
            <a:spLocks noGrp="1"/>
          </p:cNvSpPr>
          <p:nvPr/>
        </p:nvSpPr>
        <p:spPr>
          <a:xfrm>
            <a:off x="8324850" y="14097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C8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77A3AF-83C5-444A-844E-E811F47274AD}"/>
              </a:ext>
            </a:extLst>
          </p:cNvPr>
          <p:cNvSpPr>
            <a:spLocks noGrp="1"/>
          </p:cNvSpPr>
          <p:nvPr/>
        </p:nvSpPr>
        <p:spPr>
          <a:xfrm>
            <a:off x="8324850" y="193357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过滤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1E2251-F955-47DC-8508-E290148F922A}"/>
              </a:ext>
            </a:extLst>
          </p:cNvPr>
          <p:cNvSpPr>
            <a:spLocks noGrp="1"/>
          </p:cNvSpPr>
          <p:nvPr/>
        </p:nvSpPr>
        <p:spPr>
          <a:xfrm>
            <a:off x="8324850" y="2457450"/>
            <a:ext cx="285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清晰度筛选与感知哈希去重，最终保留52个有效特征。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22123F-04B0-46B2-AD93-DFE79F78FAEA}"/>
              </a:ext>
            </a:extLst>
          </p:cNvPr>
          <p:cNvSpPr>
            <a:spLocks noGrp="1"/>
          </p:cNvSpPr>
          <p:nvPr/>
        </p:nvSpPr>
        <p:spPr>
          <a:xfrm>
            <a:off x="5048250" y="39433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3A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B8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5E8F40-9721-4F74-B078-684F20A6F103}"/>
              </a:ext>
            </a:extLst>
          </p:cNvPr>
          <p:cNvSpPr>
            <a:spLocks noGrp="1"/>
          </p:cNvSpPr>
          <p:nvPr/>
        </p:nvSpPr>
        <p:spPr>
          <a:xfrm>
            <a:off x="5048250" y="44672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原型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61CCD6-13C3-4FEC-81A9-FAC915311188}"/>
              </a:ext>
            </a:extLst>
          </p:cNvPr>
          <p:cNvSpPr>
            <a:spLocks noGrp="1"/>
          </p:cNvSpPr>
          <p:nvPr/>
        </p:nvSpPr>
        <p:spPr>
          <a:xfrm>
            <a:off x="5048250" y="4991100"/>
            <a:ext cx="285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按姿态建立4个原型，覆盖正放、横放和背面等外观变化。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3A466B-9A4E-4C13-802C-0DC7DFE9413B}"/>
              </a:ext>
            </a:extLst>
          </p:cNvPr>
          <p:cNvSpPr>
            <a:spLocks noGrp="1"/>
          </p:cNvSpPr>
          <p:nvPr/>
        </p:nvSpPr>
        <p:spPr>
          <a:xfrm>
            <a:off x="8324850" y="39433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8EABE3-8BA4-4271-9AFE-99F23F3945C0}"/>
              </a:ext>
            </a:extLst>
          </p:cNvPr>
          <p:cNvSpPr>
            <a:spLocks noGrp="1"/>
          </p:cNvSpPr>
          <p:nvPr/>
        </p:nvSpPr>
        <p:spPr>
          <a:xfrm>
            <a:off x="8324850" y="44672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热重载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AE430B-9BC7-4C77-9BE1-0BCA271123B0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285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同步写入MySQL和特征库，推理线程安全重载后立即识别。</a:t>
            </a:r>
          </a:p>
        </p:txBody>
      </p:sp>
    </p:spTree>
    <p:extLst>
      <p:ext uri="{BB962C8B-B14F-4D97-AF65-F5344CB8AC3E}">
        <p14:creationId xmlns:p14="http://schemas.microsoft.com/office/powerpoint/2010/main" val="184361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12-title">
            <a:extLst>
              <a:ext uri="{FF2B5EF4-FFF2-40B4-BE49-F238E27FC236}">
                <a16:creationId xmlns:a16="http://schemas.microsoft.com/office/drawing/2014/main" id="{0F0B8964-D53F-4834-99BB-CDF5EF6B5B8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同一件阿萨姆：注册前拒绝，注册后正确计价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3AAB86-6963-4829-81EF-AB77E7D3ED5A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cxnSp>
        <p:nvCxnSpPr>
          <p:cNvPr id="39" name="直接箭头连接符 13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294463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7717E01-D7E1-4C48-A66C-976F73A7A6CF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342900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pic>
        <p:nvPicPr>
          <p:cNvPr id="41" name="图片 15"/>
          <p:cNvPicPr>
            <a:picLocks noChangeAspect="1"/>
          </p:cNvPicPr>
          <p:nvPr/>
        </p:nvPicPr>
        <p:blipFill>
          <a:blip r:embed="rId3"/>
          <a:srcRect l="5469" r="5469"/>
          <a:stretch>
            <a:fillRect/>
          </a:stretch>
        </p:blipFill>
        <p:spPr>
          <a:xfrm>
            <a:off x="400050" y="1466850"/>
            <a:ext cx="5429250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5223B30-6E22-40FD-8382-C00EDD4C3510}"/>
              </a:ext>
            </a:extLst>
          </p:cNvPr>
          <p:cNvSpPr>
            <a:spLocks noGrp="1"/>
          </p:cNvSpPr>
          <p:nvPr/>
        </p:nvSpPr>
        <p:spPr>
          <a:xfrm>
            <a:off x="6362700" y="1466850"/>
            <a:ext cx="5429250" cy="342900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pic>
        <p:nvPicPr>
          <p:cNvPr id="43" name="图片 17"/>
          <p:cNvPicPr>
            <a:picLocks noChangeAspect="1"/>
          </p:cNvPicPr>
          <p:nvPr/>
        </p:nvPicPr>
        <p:blipFill>
          <a:blip r:embed="rId4"/>
          <a:srcRect l="5469" r="5469"/>
          <a:stretch>
            <a:fillRect/>
          </a:stretch>
        </p:blipFill>
        <p:spPr>
          <a:xfrm>
            <a:off x="6362700" y="1466850"/>
            <a:ext cx="5429250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F901096-C658-41A1-ADE9-77D55691F995}"/>
              </a:ext>
            </a:extLst>
          </p:cNvPr>
          <p:cNvSpPr>
            <a:spLocks noGrp="1"/>
          </p:cNvSpPr>
          <p:nvPr/>
        </p:nvSpPr>
        <p:spPr>
          <a:xfrm>
            <a:off x="400050" y="5124450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D7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7480"/>
                </a:solidFill>
                <a:latin typeface="Microsoft YaHei"/>
                <a:ea typeface="Microsoft YaHei"/>
                <a:cs typeface="Microsoft YaHei"/>
              </a:rPr>
              <a:t>注册前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3382BD-8B43-4A37-AF37-88464B9CDFB5}"/>
              </a:ext>
            </a:extLst>
          </p:cNvPr>
          <p:cNvSpPr>
            <a:spLocks noGrp="1"/>
          </p:cNvSpPr>
          <p:nvPr/>
        </p:nvSpPr>
        <p:spPr>
          <a:xfrm>
            <a:off x="400050" y="55245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阿萨姆被开放集判定拒绝</a:t>
            </a:r>
          </a:p>
          <a:p>
            <a:pPr algn="l">
              <a:buNone/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购物车：7件，¥38.60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6F8F31-0B5C-44DD-86AE-B18E94923042}"/>
              </a:ext>
            </a:extLst>
          </p:cNvPr>
          <p:cNvSpPr>
            <a:spLocks noGrp="1"/>
          </p:cNvSpPr>
          <p:nvPr/>
        </p:nvSpPr>
        <p:spPr>
          <a:xfrm>
            <a:off x="6362700" y="5124450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3A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4D3A2"/>
                </a:solidFill>
                <a:latin typeface="Microsoft YaHei"/>
                <a:ea typeface="Microsoft YaHei"/>
                <a:cs typeface="Microsoft YaHei"/>
              </a:rPr>
              <a:t>注册后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538E87-C983-42C7-8F78-208F8EF60B2C}"/>
              </a:ext>
            </a:extLst>
          </p:cNvPr>
          <p:cNvSpPr>
            <a:spLocks noGrp="1"/>
          </p:cNvSpPr>
          <p:nvPr/>
        </p:nvSpPr>
        <p:spPr>
          <a:xfrm>
            <a:off x="6362700" y="55245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阿萨姆识别并计价¥3.00</a:t>
            </a:r>
          </a:p>
          <a:p>
            <a:pPr algn="l">
              <a:buNone/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购物车：8件，¥41.60</a:t>
            </a:r>
          </a:p>
        </p:txBody>
      </p:sp>
    </p:spTree>
    <p:extLst>
      <p:ext uri="{BB962C8B-B14F-4D97-AF65-F5344CB8AC3E}">
        <p14:creationId xmlns:p14="http://schemas.microsoft.com/office/powerpoint/2010/main" val="2064494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13-title">
            <a:extLst>
              <a:ext uri="{FF2B5EF4-FFF2-40B4-BE49-F238E27FC236}">
                <a16:creationId xmlns:a16="http://schemas.microsoft.com/office/drawing/2014/main" id="{19D94C65-B873-443E-8CCE-02EF0B55FFF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端到端验证证明识别、查价和稳定计数协同工作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17F91D-7856-45D6-B133-91EA5DDB46AF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cxnSp>
        <p:nvCxnSpPr>
          <p:cNvPr id="39" name="直接箭头连接符 23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294463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BAE84E3-1444-443F-8E5C-C99F8531EB74}"/>
              </a:ext>
            </a:extLst>
          </p:cNvPr>
          <p:cNvSpPr>
            <a:spLocks noGrp="1"/>
          </p:cNvSpPr>
          <p:nvPr/>
        </p:nvSpPr>
        <p:spPr>
          <a:xfrm>
            <a:off x="400050" y="12763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独立多商品视频验证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ACB11-36BF-4427-B285-829FFDB8E01C}"/>
              </a:ext>
            </a:extLst>
          </p:cNvPr>
          <p:cNvSpPr>
            <a:spLocks noGrp="1"/>
          </p:cNvSpPr>
          <p:nvPr/>
        </p:nvSpPr>
        <p:spPr>
          <a:xfrm>
            <a:off x="400050" y="184785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注册后重新运行原验证视频，原7件商品与新增阿萨姆同时进入购物车。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B9024F-D9FD-494C-9C4F-32B71EA89AD6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3562350" cy="276225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B76605-CEDC-4BFE-A008-F2A1963BBA46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66675" cy="2762250"/>
          </a:xfrm>
          <a:prstGeom prst="rect">
            <a:avLst/>
          </a:prstGeom>
          <a:solidFill>
            <a:srgbClr val="2D74FF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B8EEC1-4F51-4293-9FFC-22469F91F3A5}"/>
              </a:ext>
            </a:extLst>
          </p:cNvPr>
          <p:cNvSpPr>
            <a:spLocks noGrp="1"/>
          </p:cNvSpPr>
          <p:nvPr/>
        </p:nvSpPr>
        <p:spPr>
          <a:xfrm>
            <a:off x="647700" y="316230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9EC098-B5D4-4D08-AC5D-8705C80EAE57}"/>
              </a:ext>
            </a:extLst>
          </p:cNvPr>
          <p:cNvSpPr>
            <a:spLocks noGrp="1"/>
          </p:cNvSpPr>
          <p:nvPr/>
        </p:nvSpPr>
        <p:spPr>
          <a:xfrm>
            <a:off x="647700" y="411480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稳定购物车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2DFB89-D056-4136-9638-A62D90197C03}"/>
              </a:ext>
            </a:extLst>
          </p:cNvPr>
          <p:cNvSpPr>
            <a:spLocks noGrp="1"/>
          </p:cNvSpPr>
          <p:nvPr/>
        </p:nvSpPr>
        <p:spPr>
          <a:xfrm>
            <a:off x="647700" y="461010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包含2件同款乐事薯片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D79B09-A72F-4883-8861-2B023268BBCF}"/>
              </a:ext>
            </a:extLst>
          </p:cNvPr>
          <p:cNvSpPr>
            <a:spLocks noGrp="1"/>
          </p:cNvSpPr>
          <p:nvPr/>
        </p:nvSpPr>
        <p:spPr>
          <a:xfrm>
            <a:off x="4314825" y="2876550"/>
            <a:ext cx="3562350" cy="276225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7718B5-BBE3-4BE5-82C8-E0969AE2D852}"/>
              </a:ext>
            </a:extLst>
          </p:cNvPr>
          <p:cNvSpPr>
            <a:spLocks noGrp="1"/>
          </p:cNvSpPr>
          <p:nvPr/>
        </p:nvSpPr>
        <p:spPr>
          <a:xfrm>
            <a:off x="4314825" y="2876550"/>
            <a:ext cx="66675" cy="2762250"/>
          </a:xfrm>
          <a:prstGeom prst="rect">
            <a:avLst/>
          </a:prstGeom>
          <a:solidFill>
            <a:srgbClr val="11B88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4D496C-C944-46DE-86C3-5563CABABFD7}"/>
              </a:ext>
            </a:extLst>
          </p:cNvPr>
          <p:cNvSpPr>
            <a:spLocks noGrp="1"/>
          </p:cNvSpPr>
          <p:nvPr/>
        </p:nvSpPr>
        <p:spPr>
          <a:xfrm>
            <a:off x="4562475" y="316230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¥41.60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BCA910-9EC7-45BC-80CA-A8A5EFDCE9FE}"/>
              </a:ext>
            </a:extLst>
          </p:cNvPr>
          <p:cNvSpPr>
            <a:spLocks noGrp="1"/>
          </p:cNvSpPr>
          <p:nvPr/>
        </p:nvSpPr>
        <p:spPr>
          <a:xfrm>
            <a:off x="4562475" y="411480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结算总金额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E51816-5847-474D-875C-1D847668002D}"/>
              </a:ext>
            </a:extLst>
          </p:cNvPr>
          <p:cNvSpPr>
            <a:spLocks noGrp="1"/>
          </p:cNvSpPr>
          <p:nvPr/>
        </p:nvSpPr>
        <p:spPr>
          <a:xfrm>
            <a:off x="4562475" y="461010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商品价格来自MySQL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4EA83C-419F-4FE8-A793-1C2FB5121F93}"/>
              </a:ext>
            </a:extLst>
          </p:cNvPr>
          <p:cNvSpPr>
            <a:spLocks noGrp="1"/>
          </p:cNvSpPr>
          <p:nvPr/>
        </p:nvSpPr>
        <p:spPr>
          <a:xfrm>
            <a:off x="8229600" y="2876550"/>
            <a:ext cx="3562350" cy="2762250"/>
          </a:xfrm>
          <a:prstGeom prst="rect">
            <a:avLst/>
          </a:prstGeom>
          <a:solidFill>
            <a:srgbClr val="0E2038"/>
          </a:solidFill>
          <a:ln w="9525">
            <a:solidFill>
              <a:srgbClr val="29446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885256-957C-473E-8BAB-C2AE123283A4}"/>
              </a:ext>
            </a:extLst>
          </p:cNvPr>
          <p:cNvSpPr>
            <a:spLocks noGrp="1"/>
          </p:cNvSpPr>
          <p:nvPr/>
        </p:nvSpPr>
        <p:spPr>
          <a:xfrm>
            <a:off x="8229600" y="2876550"/>
            <a:ext cx="66675" cy="2762250"/>
          </a:xfrm>
          <a:prstGeom prst="rect">
            <a:avLst/>
          </a:prstGeom>
          <a:solidFill>
            <a:srgbClr val="55C8FF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B7268C-0537-4EC1-83ED-15B25F511B82}"/>
              </a:ext>
            </a:extLst>
          </p:cNvPr>
          <p:cNvSpPr>
            <a:spLocks noGrp="1"/>
          </p:cNvSpPr>
          <p:nvPr/>
        </p:nvSpPr>
        <p:spPr>
          <a:xfrm>
            <a:off x="8477250" y="316230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168帧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05EE0E-93D9-4BC0-B146-643F8B1425CC}"/>
              </a:ext>
            </a:extLst>
          </p:cNvPr>
          <p:cNvSpPr>
            <a:spLocks noGrp="1"/>
          </p:cNvSpPr>
          <p:nvPr/>
        </p:nvSpPr>
        <p:spPr>
          <a:xfrm>
            <a:off x="8477250" y="411480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稳定组合命中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936978-C1D2-4BA4-AA80-35943DBD3078}"/>
              </a:ext>
            </a:extLst>
          </p:cNvPr>
          <p:cNvSpPr>
            <a:spLocks noGrp="1"/>
          </p:cNvSpPr>
          <p:nvPr/>
        </p:nvSpPr>
        <p:spPr>
          <a:xfrm>
            <a:off x="8477250" y="4610100"/>
            <a:ext cx="3105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结算窗口共262帧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6BB329-4443-4560-BB45-C9B17B05C7F7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1095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C8FF"/>
                </a:solidFill>
                <a:latin typeface="Microsoft YaHei"/>
                <a:ea typeface="Microsoft YaHei"/>
                <a:cs typeface="Microsoft YaHei"/>
              </a:rPr>
              <a:t>新拍阿萨姆视频：391 / 393个结算窗口帧稳定识别为1件，¥3.00</a:t>
            </a:r>
          </a:p>
        </p:txBody>
      </p:sp>
    </p:spTree>
    <p:extLst>
      <p:ext uri="{BB962C8B-B14F-4D97-AF65-F5344CB8AC3E}">
        <p14:creationId xmlns:p14="http://schemas.microsoft.com/office/powerpoint/2010/main" val="1107246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14-title">
            <a:extLst>
              <a:ext uri="{FF2B5EF4-FFF2-40B4-BE49-F238E27FC236}">
                <a16:creationId xmlns:a16="http://schemas.microsoft.com/office/drawing/2014/main" id="{D2F084FA-FEAD-489C-B138-FFD1A716F54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验证覆盖了界面、边界、推理和在线注册四条链路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5889D9-AE23-4620-B823-CD9CDBAB4BD8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cxnSp>
        <p:nvCxnSpPr>
          <p:cNvPr id="122" name="直接箭头连接符 26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3E69E8F-9A50-4A68-99F0-397FDFD52F36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测试项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E44EA3-3FB7-4F37-9FA6-49249B795ADA}"/>
              </a:ext>
            </a:extLst>
          </p:cNvPr>
          <p:cNvSpPr>
            <a:spLocks noGrp="1"/>
          </p:cNvSpPr>
          <p:nvPr/>
        </p:nvSpPr>
        <p:spPr>
          <a:xfrm>
            <a:off x="3143250" y="15240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验证内容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F2F7AF-A2F1-4FAC-BDAC-48C55D538E89}"/>
              </a:ext>
            </a:extLst>
          </p:cNvPr>
          <p:cNvSpPr>
            <a:spLocks noGrp="1"/>
          </p:cNvSpPr>
          <p:nvPr/>
        </p:nvSpPr>
        <p:spPr>
          <a:xfrm>
            <a:off x="10287000" y="15240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350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cxnSp>
        <p:nvCxnSpPr>
          <p:cNvPr id="126" name="直接箭头连接符 30"/>
          <p:cNvCxnSpPr/>
          <p:nvPr/>
        </p:nvCxnSpPr>
        <p:spPr>
          <a:xfrm>
            <a:off x="400050" y="1885950"/>
            <a:ext cx="11391900" cy="95"/>
          </a:xfrm>
          <a:prstGeom prst="straightConnector1">
            <a:avLst/>
          </a:prstGeom>
          <a:ln w="9525">
            <a:solidFill>
              <a:srgbClr val="D7E2F2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C905EC7-AFE0-4691-9332-00042F3092FD}"/>
              </a:ext>
            </a:extLst>
          </p:cNvPr>
          <p:cNvSpPr>
            <a:spLocks noGrp="1"/>
          </p:cNvSpPr>
          <p:nvPr/>
        </p:nvSpPr>
        <p:spPr>
          <a:xfrm>
            <a:off x="400050" y="20574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Qt界面冒烟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B5248B-4FBD-4849-B676-9F26FC67D15F}"/>
              </a:ext>
            </a:extLst>
          </p:cNvPr>
          <p:cNvSpPr>
            <a:spLocks noGrp="1"/>
          </p:cNvSpPr>
          <p:nvPr/>
        </p:nvSpPr>
        <p:spPr>
          <a:xfrm>
            <a:off x="3143250" y="2057400"/>
            <a:ext cx="647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离屏创建主窗口，摄像头线程不自动启动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4845DE-58A6-440D-982E-D497EED1788D}"/>
              </a:ext>
            </a:extLst>
          </p:cNvPr>
          <p:cNvSpPr>
            <a:spLocks noGrp="1"/>
          </p:cNvSpPr>
          <p:nvPr/>
        </p:nvSpPr>
        <p:spPr>
          <a:xfrm>
            <a:off x="10287000" y="20574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650" b="1">
                <a:solidFill>
                  <a:srgbClr val="13A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B88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cxnSp>
        <p:nvCxnSpPr>
          <p:cNvPr id="130" name="直接箭头连接符 34"/>
          <p:cNvCxnSpPr/>
          <p:nvPr/>
        </p:nvCxnSpPr>
        <p:spPr>
          <a:xfrm>
            <a:off x="400050" y="2762250"/>
            <a:ext cx="11391900" cy="95"/>
          </a:xfrm>
          <a:prstGeom prst="straightConnector1">
            <a:avLst/>
          </a:prstGeom>
          <a:ln w="9525">
            <a:solidFill>
              <a:srgbClr val="D7E2F2"/>
            </a:solidFill>
            <a:prstDash val="soli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8B91032-FDD9-477A-83E0-E7F65497BCC0}"/>
              </a:ext>
            </a:extLst>
          </p:cNvPr>
          <p:cNvSpPr>
            <a:spLocks noGrp="1"/>
          </p:cNvSpPr>
          <p:nvPr/>
        </p:nvSpPr>
        <p:spPr>
          <a:xfrm>
            <a:off x="400050" y="29337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标注边界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39D551-F4D1-4CC8-935F-4407D04D821B}"/>
              </a:ext>
            </a:extLst>
          </p:cNvPr>
          <p:cNvSpPr>
            <a:spLocks noGrp="1"/>
          </p:cNvSpPr>
          <p:nvPr/>
        </p:nvSpPr>
        <p:spPr>
          <a:xfrm>
            <a:off x="3143250" y="2933700"/>
            <a:ext cx="647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检测框越过图像四边仍可安全绘制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85C4A4-9E63-4A0B-AA9B-722FE30EA73F}"/>
              </a:ext>
            </a:extLst>
          </p:cNvPr>
          <p:cNvSpPr>
            <a:spLocks noGrp="1"/>
          </p:cNvSpPr>
          <p:nvPr/>
        </p:nvSpPr>
        <p:spPr>
          <a:xfrm>
            <a:off x="10287000" y="29337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650" b="1">
                <a:solidFill>
                  <a:srgbClr val="13A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B88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cxnSp>
        <p:nvCxnSpPr>
          <p:cNvPr id="134" name="直接箭头连接符 38"/>
          <p:cNvCxnSpPr/>
          <p:nvPr/>
        </p:nvCxnSpPr>
        <p:spPr>
          <a:xfrm>
            <a:off x="400050" y="3638550"/>
            <a:ext cx="11391900" cy="95"/>
          </a:xfrm>
          <a:prstGeom prst="straightConnector1">
            <a:avLst/>
          </a:prstGeom>
          <a:ln w="9525">
            <a:solidFill>
              <a:srgbClr val="D7E2F2"/>
            </a:solidFill>
            <a:prstDash val="soli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3C5F422-0E22-45AF-9967-594FF641D6BA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推理引擎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966DC9-2A4D-40EC-B186-60C99FFB6E6D}"/>
              </a:ext>
            </a:extLst>
          </p:cNvPr>
          <p:cNvSpPr>
            <a:spLocks noGrp="1"/>
          </p:cNvSpPr>
          <p:nvPr/>
        </p:nvSpPr>
        <p:spPr>
          <a:xfrm>
            <a:off x="3143250" y="3810000"/>
            <a:ext cx="647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ONNX + CUDA/CPU + MySQL单帧链路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7ECB57-4B5B-4AEA-BA5A-2B25F53AB826}"/>
              </a:ext>
            </a:extLst>
          </p:cNvPr>
          <p:cNvSpPr>
            <a:spLocks noGrp="1"/>
          </p:cNvSpPr>
          <p:nvPr/>
        </p:nvSpPr>
        <p:spPr>
          <a:xfrm>
            <a:off x="10287000" y="38100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650" b="1">
                <a:solidFill>
                  <a:srgbClr val="13A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B88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cxnSp>
        <p:nvCxnSpPr>
          <p:cNvPr id="138" name="直接箭头连接符 42"/>
          <p:cNvCxnSpPr/>
          <p:nvPr/>
        </p:nvCxnSpPr>
        <p:spPr>
          <a:xfrm>
            <a:off x="400050" y="4514850"/>
            <a:ext cx="11391900" cy="95"/>
          </a:xfrm>
          <a:prstGeom prst="straightConnector1">
            <a:avLst/>
          </a:prstGeom>
          <a:ln w="9525">
            <a:solidFill>
              <a:srgbClr val="D7E2F2"/>
            </a:solidFill>
            <a:prstDash val="soli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41A4306-815E-4DA5-B7F1-61B0AD68B4BF}"/>
              </a:ext>
            </a:extLst>
          </p:cNvPr>
          <p:cNvSpPr>
            <a:spLocks noGrp="1"/>
          </p:cNvSpPr>
          <p:nvPr/>
        </p:nvSpPr>
        <p:spPr>
          <a:xfrm>
            <a:off x="400050" y="46863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在线注册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DC012B-3F73-45E0-9045-A2A28DC496B0}"/>
              </a:ext>
            </a:extLst>
          </p:cNvPr>
          <p:cNvSpPr>
            <a:spLocks noGrp="1"/>
          </p:cNvSpPr>
          <p:nvPr/>
        </p:nvSpPr>
        <p:spPr>
          <a:xfrm>
            <a:off x="3143250" y="4686300"/>
            <a:ext cx="647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跨姿态注册、热重载和原商品回归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A6CA0C-63D9-48D5-91C7-0589C1B8A811}"/>
              </a:ext>
            </a:extLst>
          </p:cNvPr>
          <p:cNvSpPr>
            <a:spLocks noGrp="1"/>
          </p:cNvSpPr>
          <p:nvPr/>
        </p:nvSpPr>
        <p:spPr>
          <a:xfrm>
            <a:off x="10287000" y="46863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650" b="1">
                <a:solidFill>
                  <a:srgbClr val="13A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B88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7A6908-A3B2-4444-B2BD-658C6B50BAE4}"/>
              </a:ext>
            </a:extLst>
          </p:cNvPr>
          <p:cNvSpPr>
            <a:spLocks noGrp="1"/>
          </p:cNvSpPr>
          <p:nvPr/>
        </p:nvSpPr>
        <p:spPr>
          <a:xfrm>
            <a:off x="400050" y="5657850"/>
            <a:ext cx="11391900" cy="628650"/>
          </a:xfrm>
          <a:prstGeom prst="rect">
            <a:avLst/>
          </a:prstGeom>
          <a:solidFill>
            <a:srgbClr val="DFEEFF"/>
          </a:solidFill>
          <a:ln w="9525">
            <a:solidFill>
              <a:srgbClr val="D7E2F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191914-93A5-4D96-95B8-7C7DBDE442B2}"/>
              </a:ext>
            </a:extLst>
          </p:cNvPr>
          <p:cNvSpPr>
            <a:spLocks noGrp="1"/>
          </p:cNvSpPr>
          <p:nvPr/>
        </p:nvSpPr>
        <p:spPr>
          <a:xfrm>
            <a:off x="628650" y="5848350"/>
            <a:ext cx="1093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测试证明当前答辩基线可运行；真实商用仍需要长时间、跨设备和断网断电测试。</a:t>
            </a:r>
          </a:p>
        </p:txBody>
      </p:sp>
    </p:spTree>
    <p:extLst>
      <p:ext uri="{BB962C8B-B14F-4D97-AF65-F5344CB8AC3E}">
        <p14:creationId xmlns:p14="http://schemas.microsoft.com/office/powerpoint/2010/main" val="28631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15-title">
            <a:extLst>
              <a:ext uri="{FF2B5EF4-FFF2-40B4-BE49-F238E27FC236}">
                <a16:creationId xmlns:a16="http://schemas.microsoft.com/office/drawing/2014/main" id="{17808026-51CA-439B-9E86-36C44E4ECF9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三个关键问题推动了方案从分类走向检索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017CE9-7048-49F5-B607-F768D994C983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cxnSp>
        <p:nvCxnSpPr>
          <p:cNvPr id="101" name="直接箭头连接符 20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BFDFFC91-E0DB-4230-8E82-82B9C6173C04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问题01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45752A-5092-4A99-ACF1-9F0D6B696B42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未注册饮料被强行分类</a:t>
            </a:r>
          </a:p>
        </p:txBody>
      </p:sp>
      <p:cxnSp>
        <p:nvCxnSpPr>
          <p:cNvPr id="104" name="直接箭头连接符 23"/>
          <p:cNvCxnSpPr/>
          <p:nvPr/>
        </p:nvCxnSpPr>
        <p:spPr>
          <a:xfrm>
            <a:off x="400050" y="3371850"/>
            <a:ext cx="3143250" cy="95"/>
          </a:xfrm>
          <a:prstGeom prst="straightConnector1">
            <a:avLst/>
          </a:prstGeom>
          <a:ln w="23813">
            <a:solidFill>
              <a:srgbClr val="2D74FF"/>
            </a:solidFill>
            <a:prstDash val="soli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77067A0-435D-438E-92B9-337284451BFC}"/>
              </a:ext>
            </a:extLst>
          </p:cNvPr>
          <p:cNvSpPr>
            <a:spLocks noGrp="1"/>
          </p:cNvSpPr>
          <p:nvPr/>
        </p:nvSpPr>
        <p:spPr>
          <a:xfrm>
            <a:off x="400050" y="36385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62054A-3093-4C9B-A91A-C08200D7AF2B}"/>
              </a:ext>
            </a:extLst>
          </p:cNvPr>
          <p:cNvSpPr>
            <a:spLocks noGrp="1"/>
          </p:cNvSpPr>
          <p:nvPr/>
        </p:nvSpPr>
        <p:spPr>
          <a:xfrm>
            <a:off x="400050" y="4114800"/>
            <a:ext cx="31432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引入Top1相似度与Top1–Top2间隔，低间隔商品直接拒绝。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294FB7-5F79-44D3-9671-5D98E1E4C81D}"/>
              </a:ext>
            </a:extLst>
          </p:cNvPr>
          <p:cNvSpPr>
            <a:spLocks noGrp="1"/>
          </p:cNvSpPr>
          <p:nvPr/>
        </p:nvSpPr>
        <p:spPr>
          <a:xfrm>
            <a:off x="4314825" y="1619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问题02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2D9E7-E759-499D-AB96-50D334234F60}"/>
              </a:ext>
            </a:extLst>
          </p:cNvPr>
          <p:cNvSpPr>
            <a:spLocks noGrp="1"/>
          </p:cNvSpPr>
          <p:nvPr/>
        </p:nvSpPr>
        <p:spPr>
          <a:xfrm>
            <a:off x="4314825" y="22098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真实摄像头与训练视频存在域差异</a:t>
            </a:r>
          </a:p>
        </p:txBody>
      </p:sp>
      <p:cxnSp>
        <p:nvCxnSpPr>
          <p:cNvPr id="109" name="直接箭头连接符 28"/>
          <p:cNvCxnSpPr/>
          <p:nvPr/>
        </p:nvCxnSpPr>
        <p:spPr>
          <a:xfrm>
            <a:off x="4314825" y="3371850"/>
            <a:ext cx="3143250" cy="95"/>
          </a:xfrm>
          <a:prstGeom prst="straightConnector1">
            <a:avLst/>
          </a:prstGeom>
          <a:ln w="23813">
            <a:solidFill>
              <a:srgbClr val="2D74FF"/>
            </a:solidFill>
            <a:prstDash val="soli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90750E85-7BE0-4FFD-9F2E-176A75A39617}"/>
              </a:ext>
            </a:extLst>
          </p:cNvPr>
          <p:cNvSpPr>
            <a:spLocks noGrp="1"/>
          </p:cNvSpPr>
          <p:nvPr/>
        </p:nvSpPr>
        <p:spPr>
          <a:xfrm>
            <a:off x="4314825" y="36385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D96B62-E2D5-4123-8BCF-74033F09F31B}"/>
              </a:ext>
            </a:extLst>
          </p:cNvPr>
          <p:cNvSpPr>
            <a:spLocks noGrp="1"/>
          </p:cNvSpPr>
          <p:nvPr/>
        </p:nvSpPr>
        <p:spPr>
          <a:xfrm>
            <a:off x="4314825" y="4114800"/>
            <a:ext cx="31432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补充真实场景样本，不重训模型，增量扩充特征库与姿态原型。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32109F-D565-418F-AD9B-C9429AA90A06}"/>
              </a:ext>
            </a:extLst>
          </p:cNvPr>
          <p:cNvSpPr>
            <a:spLocks noGrp="1"/>
          </p:cNvSpPr>
          <p:nvPr/>
        </p:nvSpPr>
        <p:spPr>
          <a:xfrm>
            <a:off x="8229600" y="1619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问题03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7EC66C-F5DC-4893-8E0B-7B0A4993305D}"/>
              </a:ext>
            </a:extLst>
          </p:cNvPr>
          <p:cNvSpPr>
            <a:spLocks noGrp="1"/>
          </p:cNvSpPr>
          <p:nvPr/>
        </p:nvSpPr>
        <p:spPr>
          <a:xfrm>
            <a:off x="8229600" y="22098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新增商品可能影响旧类别</a:t>
            </a:r>
          </a:p>
        </p:txBody>
      </p:sp>
      <p:cxnSp>
        <p:nvCxnSpPr>
          <p:cNvPr id="114" name="直接箭头连接符 33"/>
          <p:cNvCxnSpPr/>
          <p:nvPr/>
        </p:nvCxnSpPr>
        <p:spPr>
          <a:xfrm>
            <a:off x="8229600" y="3371850"/>
            <a:ext cx="3143250" cy="95"/>
          </a:xfrm>
          <a:prstGeom prst="straightConnector1">
            <a:avLst/>
          </a:prstGeom>
          <a:ln w="23813">
            <a:solidFill>
              <a:srgbClr val="2D74FF"/>
            </a:solidFill>
            <a:prstDash val="soli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5985F48-630D-447B-AF93-F829B2CC9585}"/>
              </a:ext>
            </a:extLst>
          </p:cNvPr>
          <p:cNvSpPr>
            <a:spLocks noGrp="1"/>
          </p:cNvSpPr>
          <p:nvPr/>
        </p:nvSpPr>
        <p:spPr>
          <a:xfrm>
            <a:off x="8229600" y="36385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3ACF78-E605-4413-99F2-1776A399B7FC}"/>
              </a:ext>
            </a:extLst>
          </p:cNvPr>
          <p:cNvSpPr>
            <a:spLocks noGrp="1"/>
          </p:cNvSpPr>
          <p:nvPr/>
        </p:nvSpPr>
        <p:spPr>
          <a:xfrm>
            <a:off x="8229600" y="4114800"/>
            <a:ext cx="31432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原24类阈值冻结；动态类采用0.95高相似度前提并独立验证回归。</a:t>
            </a:r>
          </a:p>
        </p:txBody>
      </p:sp>
    </p:spTree>
    <p:extLst>
      <p:ext uri="{BB962C8B-B14F-4D97-AF65-F5344CB8AC3E}">
        <p14:creationId xmlns:p14="http://schemas.microsoft.com/office/powerpoint/2010/main" val="69762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16-title">
            <a:extLst>
              <a:ext uri="{FF2B5EF4-FFF2-40B4-BE49-F238E27FC236}">
                <a16:creationId xmlns:a16="http://schemas.microsoft.com/office/drawing/2014/main" id="{91D9B3F8-1C54-43F2-9511-BA6E1FF6926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当前是视觉结算原型，下一步才是真正的称重与商超集成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DFCC04-2097-4977-AA94-3444878D2715}"/>
              </a:ext>
            </a:extLst>
          </p:cNvPr>
          <p:cNvSpPr>
            <a:spLocks noGrp="1"/>
          </p:cNvSpPr>
          <p:nvPr/>
        </p:nvSpPr>
        <p:spPr>
          <a:xfrm>
            <a:off x="11296650" y="419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6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cxnSp>
        <p:nvCxnSpPr>
          <p:cNvPr id="43" name="直接箭头连接符 12"/>
          <p:cNvCxnSpPr/>
          <p:nvPr/>
        </p:nvCxnSpPr>
        <p:spPr>
          <a:xfrm>
            <a:off x="400050" y="1028700"/>
            <a:ext cx="11391900" cy="95"/>
          </a:xfrm>
          <a:prstGeom prst="straightConnector1">
            <a:avLst/>
          </a:prstGeom>
          <a:ln w="14288">
            <a:solidFill>
              <a:srgbClr val="D7E2F2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97B3417-CE99-4233-9CC4-682FAA30E1BA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D7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05260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2BB916-00BE-4C9D-AD5C-B0499F16776D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4953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仅覆盖4类包装、24–25个SKU</a:t>
            </a:r>
          </a:p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没有真实称重传感器、去皮和稳重协议</a:t>
            </a:r>
          </a:p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结算仍是界面确认，没有支付与订单落库</a:t>
            </a:r>
          </a:p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复杂背景、横放罐装和近似包装仍是难点</a:t>
            </a:r>
          </a:p>
        </p:txBody>
      </p:sp>
      <p:cxnSp>
        <p:nvCxnSpPr>
          <p:cNvPr id="46" name="直接箭头连接符 15"/>
          <p:cNvCxnSpPr/>
          <p:nvPr/>
        </p:nvCxnSpPr>
        <p:spPr>
          <a:xfrm>
            <a:off x="6000750" y="1352550"/>
            <a:ext cx="9525" cy="95"/>
          </a:xfrm>
          <a:prstGeom prst="straightConnector1">
            <a:avLst/>
          </a:prstGeom>
          <a:ln w="9525">
            <a:noFill/>
            <a:prstDash val="soli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C29E2D88-A589-4DBC-AD94-D2013BB97DA8}"/>
              </a:ext>
            </a:extLst>
          </p:cNvPr>
          <p:cNvSpPr>
            <a:spLocks noGrp="1"/>
          </p:cNvSpPr>
          <p:nvPr/>
        </p:nvSpPr>
        <p:spPr>
          <a:xfrm>
            <a:off x="6534150" y="14478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D74FF"/>
                </a:solidFill>
                <a:latin typeface="Microsoft YaHei"/>
                <a:ea typeface="Microsoft YaHei"/>
                <a:cs typeface="Microsoft YaHei"/>
              </a:rPr>
              <a:t>后续方向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B12808-8D84-4D4D-98EE-D7CE12DC0B92}"/>
              </a:ext>
            </a:extLst>
          </p:cNvPr>
          <p:cNvSpPr>
            <a:spLocks noGrp="1"/>
          </p:cNvSpPr>
          <p:nvPr/>
        </p:nvSpPr>
        <p:spPr>
          <a:xfrm>
            <a:off x="6534150" y="2133600"/>
            <a:ext cx="4953000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接入检定电子秤，重量稳定后触发识别</a:t>
            </a:r>
          </a:p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用实例分割mask减少背景与遮挡干扰</a:t>
            </a:r>
          </a:p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引入条码/OCR作为相似包装兜底</a:t>
            </a:r>
          </a:p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对接PLU、打印、POS和订单系统</a:t>
            </a:r>
          </a:p>
          <a:p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831"/>
                </a:solidFill>
                <a:latin typeface="Microsoft YaHei"/>
                <a:ea typeface="Microsoft YaHei"/>
                <a:cs typeface="Microsoft YaHei"/>
              </a:rPr>
              <a:t>• 扩展真实门店数据与模型监控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277E40-7C2E-4127-811E-90A47B031104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11087100" cy="742950"/>
          </a:xfrm>
          <a:prstGeom prst="rect">
            <a:avLst/>
          </a:prstGeom>
          <a:solidFill>
            <a:srgbClr val="0E2038"/>
          </a:solidFill>
          <a:ln w="9525">
            <a:solidFill>
              <a:srgbClr val="0E203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4FEF4D-C605-44B8-B99F-8D26B612D360}"/>
              </a:ext>
            </a:extLst>
          </p:cNvPr>
          <p:cNvSpPr>
            <a:spLocks noGrp="1"/>
          </p:cNvSpPr>
          <p:nvPr/>
        </p:nvSpPr>
        <p:spPr>
          <a:xfrm>
            <a:off x="666750" y="5562600"/>
            <a:ext cx="1055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项目价值：验证了一个可扩展的视觉识别子系统，而不是宣称已经复刻商用AI秤。</a:t>
            </a:r>
          </a:p>
        </p:txBody>
      </p:sp>
    </p:spTree>
    <p:extLst>
      <p:ext uri="{BB962C8B-B14F-4D97-AF65-F5344CB8AC3E}">
        <p14:creationId xmlns:p14="http://schemas.microsoft.com/office/powerpoint/2010/main" val="1013150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A18F887-4DA8-4C15-9E2F-10F03DFE5F16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C8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383992-0547-4546-849A-7339EF970841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809625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7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我们完成了从视频数据到</a:t>
            </a:r>
          </a:p>
          <a:p>
            <a:pPr algn="l">
              <a:buNone/>
              <a:defRPr sz="37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可交互结算原型的完整闭环</a:t>
            </a:r>
          </a:p>
        </p:txBody>
      </p:sp>
      <p:cxnSp>
        <p:nvCxnSpPr>
          <p:cNvPr id="32" name="直接箭头连接符 16"/>
          <p:cNvCxnSpPr/>
          <p:nvPr/>
        </p:nvCxnSpPr>
        <p:spPr>
          <a:xfrm>
            <a:off x="400050" y="3448050"/>
            <a:ext cx="11391900" cy="95"/>
          </a:xfrm>
          <a:prstGeom prst="straightConnector1">
            <a:avLst/>
          </a:prstGeom>
          <a:ln w="19050">
            <a:solidFill>
              <a:srgbClr val="55C8FF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4C4125B-3FCD-4B14-A8BE-81F4BEB6C59C}"/>
              </a:ext>
            </a:extLst>
          </p:cNvPr>
          <p:cNvSpPr>
            <a:spLocks noGrp="1"/>
          </p:cNvSpPr>
          <p:nvPr/>
        </p:nvSpPr>
        <p:spPr>
          <a:xfrm>
            <a:off x="400050" y="3943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C8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FC1583-F98F-49DD-9B48-DB63A875B82B}"/>
              </a:ext>
            </a:extLst>
          </p:cNvPr>
          <p:cNvSpPr>
            <a:spLocks noGrp="1"/>
          </p:cNvSpPr>
          <p:nvPr/>
        </p:nvSpPr>
        <p:spPr>
          <a:xfrm>
            <a:off x="400050" y="44386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工程闭环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23230B-9899-4AAB-A8DC-9EC54F3B221F}"/>
              </a:ext>
            </a:extLst>
          </p:cNvPr>
          <p:cNvSpPr>
            <a:spLocks noGrp="1"/>
          </p:cNvSpPr>
          <p:nvPr/>
        </p:nvSpPr>
        <p:spPr>
          <a:xfrm>
            <a:off x="400050" y="4933950"/>
            <a:ext cx="3143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数据、训练、导出、数据库、Qt与测试均可复现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D6D85D-CB78-484A-A354-3B5C7741CA37}"/>
              </a:ext>
            </a:extLst>
          </p:cNvPr>
          <p:cNvSpPr>
            <a:spLocks noGrp="1"/>
          </p:cNvSpPr>
          <p:nvPr/>
        </p:nvSpPr>
        <p:spPr>
          <a:xfrm>
            <a:off x="4314825" y="3943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C8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DA2F0C-2DD5-439D-AE38-6F3D084D3765}"/>
              </a:ext>
            </a:extLst>
          </p:cNvPr>
          <p:cNvSpPr>
            <a:spLocks noGrp="1"/>
          </p:cNvSpPr>
          <p:nvPr/>
        </p:nvSpPr>
        <p:spPr>
          <a:xfrm>
            <a:off x="4314825" y="44386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开放集识别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74FB35-AE48-4372-B02C-D1DB4B850664}"/>
              </a:ext>
            </a:extLst>
          </p:cNvPr>
          <p:cNvSpPr>
            <a:spLocks noGrp="1"/>
          </p:cNvSpPr>
          <p:nvPr/>
        </p:nvSpPr>
        <p:spPr>
          <a:xfrm>
            <a:off x="4314825" y="4933950"/>
            <a:ext cx="3143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相似度与类别间隔共同避免未知商品误计价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AC7147-2136-42FB-88E2-41E240AF0999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C8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C52DB7-F84E-4636-9B74-53410D58A136}"/>
              </a:ext>
            </a:extLst>
          </p:cNvPr>
          <p:cNvSpPr>
            <a:spLocks noGrp="1"/>
          </p:cNvSpPr>
          <p:nvPr/>
        </p:nvSpPr>
        <p:spPr>
          <a:xfrm>
            <a:off x="8229600" y="44386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670DAC-9E90-4683-A526-A5C75472FEFE}"/>
              </a:ext>
            </a:extLst>
          </p:cNvPr>
          <p:cNvSpPr>
            <a:spLocks noGrp="1"/>
          </p:cNvSpPr>
          <p:nvPr/>
        </p:nvSpPr>
        <p:spPr>
          <a:xfrm>
            <a:off x="8229600" y="4933950"/>
            <a:ext cx="3143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新商品通过多姿态原型注册并完成独立回归验证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6E93FE-F9F0-4571-B87C-4F70E8D34CCB}"/>
              </a:ext>
            </a:extLst>
          </p:cNvPr>
          <p:cNvSpPr>
            <a:spLocks noGrp="1"/>
          </p:cNvSpPr>
          <p:nvPr/>
        </p:nvSpPr>
        <p:spPr>
          <a:xfrm>
            <a:off x="113157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9778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4290D84-4601-6543-A5C0-7A6C8557C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066" y="-40107"/>
            <a:ext cx="12502676" cy="703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6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2105</Words>
  <Application>Microsoft Office PowerPoint</Application>
  <DocSecurity>0</DocSecurity>
  <PresentationFormat>宽屏</PresentationFormat>
  <Paragraphs>339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富森 钱</cp:lastModifiedBy>
  <cp:revision>2</cp:revision>
  <dcterms:created xsi:type="dcterms:W3CDTF">2026-08-30T04:10:43Z</dcterms:created>
  <dcterms:modified xsi:type="dcterms:W3CDTF">2026-08-31T07:30:53Z</dcterms:modified>
</cp:coreProperties>
</file>